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5" r:id="rId7"/>
    <p:sldId id="266" r:id="rId8"/>
    <p:sldId id="267" r:id="rId9"/>
    <p:sldId id="268" r:id="rId10"/>
    <p:sldId id="269" r:id="rId11"/>
    <p:sldId id="270"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3" autoAdjust="0"/>
    <p:restoredTop sz="94660"/>
  </p:normalViewPr>
  <p:slideViewPr>
    <p:cSldViewPr snapToGrid="0">
      <p:cViewPr>
        <p:scale>
          <a:sx n="125" d="100"/>
          <a:sy n="125" d="100"/>
        </p:scale>
        <p:origin x="30" y="-22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DF1ED1-F632-4210-90C6-A382D11BFF9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F9093F6-2451-4A5E-8895-4EC3E060BF6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884393E-9DA6-4572-AB0D-E821272D17CA}"/>
              </a:ext>
            </a:extLst>
          </p:cNvPr>
          <p:cNvSpPr>
            <a:spLocks noGrp="1"/>
          </p:cNvSpPr>
          <p:nvPr>
            <p:ph type="dt" sz="half" idx="10"/>
          </p:nvPr>
        </p:nvSpPr>
        <p:spPr/>
        <p:txBody>
          <a:bodyPr/>
          <a:lstStyle/>
          <a:p>
            <a:fld id="{E76AFD8A-A5CD-4C67-A3FF-50AE2C37EBEF}" type="datetimeFigureOut">
              <a:rPr lang="en-US" smtClean="0"/>
              <a:t>3/6/2026</a:t>
            </a:fld>
            <a:endParaRPr lang="en-US"/>
          </a:p>
        </p:txBody>
      </p:sp>
      <p:sp>
        <p:nvSpPr>
          <p:cNvPr id="5" name="Footer Placeholder 4">
            <a:extLst>
              <a:ext uri="{FF2B5EF4-FFF2-40B4-BE49-F238E27FC236}">
                <a16:creationId xmlns:a16="http://schemas.microsoft.com/office/drawing/2014/main" id="{0F907304-0BB5-4E3E-B418-E1A8AC66112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E9EA841-FB26-4EE4-8C2D-C085CFBF3741}"/>
              </a:ext>
            </a:extLst>
          </p:cNvPr>
          <p:cNvSpPr>
            <a:spLocks noGrp="1"/>
          </p:cNvSpPr>
          <p:nvPr>
            <p:ph type="sldNum" sz="quarter" idx="12"/>
          </p:nvPr>
        </p:nvSpPr>
        <p:spPr/>
        <p:txBody>
          <a:bodyPr/>
          <a:lstStyle/>
          <a:p>
            <a:fld id="{79AE4098-16CC-460A-B51F-6F7D058EC8B6}" type="slidenum">
              <a:rPr lang="en-US" smtClean="0"/>
              <a:t>‹#›</a:t>
            </a:fld>
            <a:endParaRPr lang="en-US"/>
          </a:p>
        </p:txBody>
      </p:sp>
    </p:spTree>
    <p:extLst>
      <p:ext uri="{BB962C8B-B14F-4D97-AF65-F5344CB8AC3E}">
        <p14:creationId xmlns:p14="http://schemas.microsoft.com/office/powerpoint/2010/main" val="9893757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09A3E4-026B-4CB1-A380-37F3420FB0F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8AEDC08-5A3B-4AB4-A062-E74C421A2D39}"/>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60A18A-65B7-452F-A738-E77A084F9A19}"/>
              </a:ext>
            </a:extLst>
          </p:cNvPr>
          <p:cNvSpPr>
            <a:spLocks noGrp="1"/>
          </p:cNvSpPr>
          <p:nvPr>
            <p:ph type="dt" sz="half" idx="10"/>
          </p:nvPr>
        </p:nvSpPr>
        <p:spPr/>
        <p:txBody>
          <a:bodyPr/>
          <a:lstStyle/>
          <a:p>
            <a:fld id="{E76AFD8A-A5CD-4C67-A3FF-50AE2C37EBEF}" type="datetimeFigureOut">
              <a:rPr lang="en-US" smtClean="0"/>
              <a:t>3/6/2026</a:t>
            </a:fld>
            <a:endParaRPr lang="en-US"/>
          </a:p>
        </p:txBody>
      </p:sp>
      <p:sp>
        <p:nvSpPr>
          <p:cNvPr id="5" name="Footer Placeholder 4">
            <a:extLst>
              <a:ext uri="{FF2B5EF4-FFF2-40B4-BE49-F238E27FC236}">
                <a16:creationId xmlns:a16="http://schemas.microsoft.com/office/drawing/2014/main" id="{79B243E1-5458-46D9-A67B-A780637E5FA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7EBE068-D658-4B4C-A17E-686A9B3CB4B2}"/>
              </a:ext>
            </a:extLst>
          </p:cNvPr>
          <p:cNvSpPr>
            <a:spLocks noGrp="1"/>
          </p:cNvSpPr>
          <p:nvPr>
            <p:ph type="sldNum" sz="quarter" idx="12"/>
          </p:nvPr>
        </p:nvSpPr>
        <p:spPr/>
        <p:txBody>
          <a:bodyPr/>
          <a:lstStyle/>
          <a:p>
            <a:fld id="{79AE4098-16CC-460A-B51F-6F7D058EC8B6}" type="slidenum">
              <a:rPr lang="en-US" smtClean="0"/>
              <a:t>‹#›</a:t>
            </a:fld>
            <a:endParaRPr lang="en-US"/>
          </a:p>
        </p:txBody>
      </p:sp>
    </p:spTree>
    <p:extLst>
      <p:ext uri="{BB962C8B-B14F-4D97-AF65-F5344CB8AC3E}">
        <p14:creationId xmlns:p14="http://schemas.microsoft.com/office/powerpoint/2010/main" val="23982424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8CB299-031F-48A8-BCAF-43A16B600F2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3B18115-7635-4859-89AD-1CD1191A5EE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E5CBD2AD-50EF-4EAE-B9A9-0CC081A615FC}"/>
              </a:ext>
            </a:extLst>
          </p:cNvPr>
          <p:cNvSpPr>
            <a:spLocks noGrp="1"/>
          </p:cNvSpPr>
          <p:nvPr>
            <p:ph type="dt" sz="half" idx="10"/>
          </p:nvPr>
        </p:nvSpPr>
        <p:spPr/>
        <p:txBody>
          <a:bodyPr/>
          <a:lstStyle/>
          <a:p>
            <a:fld id="{E76AFD8A-A5CD-4C67-A3FF-50AE2C37EBEF}" type="datetimeFigureOut">
              <a:rPr lang="en-US" smtClean="0"/>
              <a:t>3/6/2026</a:t>
            </a:fld>
            <a:endParaRPr lang="en-US"/>
          </a:p>
        </p:txBody>
      </p:sp>
      <p:sp>
        <p:nvSpPr>
          <p:cNvPr id="5" name="Footer Placeholder 4">
            <a:extLst>
              <a:ext uri="{FF2B5EF4-FFF2-40B4-BE49-F238E27FC236}">
                <a16:creationId xmlns:a16="http://schemas.microsoft.com/office/drawing/2014/main" id="{C14955E0-A798-4D66-B6B5-B47E57DFDFB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ABA5E6C-A0BC-4228-8587-85C283927311}"/>
              </a:ext>
            </a:extLst>
          </p:cNvPr>
          <p:cNvSpPr>
            <a:spLocks noGrp="1"/>
          </p:cNvSpPr>
          <p:nvPr>
            <p:ph type="sldNum" sz="quarter" idx="12"/>
          </p:nvPr>
        </p:nvSpPr>
        <p:spPr/>
        <p:txBody>
          <a:bodyPr/>
          <a:lstStyle/>
          <a:p>
            <a:fld id="{79AE4098-16CC-460A-B51F-6F7D058EC8B6}" type="slidenum">
              <a:rPr lang="en-US" smtClean="0"/>
              <a:t>‹#›</a:t>
            </a:fld>
            <a:endParaRPr lang="en-US"/>
          </a:p>
        </p:txBody>
      </p:sp>
    </p:spTree>
    <p:extLst>
      <p:ext uri="{BB962C8B-B14F-4D97-AF65-F5344CB8AC3E}">
        <p14:creationId xmlns:p14="http://schemas.microsoft.com/office/powerpoint/2010/main" val="26808075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78030D-A634-4E14-B537-6C2DDF9C8BE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BA6739A-C3B5-4B85-A919-A7CD6BBD3E98}"/>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3B92946-D213-4049-8922-9AA72ED78232}"/>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482176B-D7C6-4CCA-8566-55052FB9534B}"/>
              </a:ext>
            </a:extLst>
          </p:cNvPr>
          <p:cNvSpPr>
            <a:spLocks noGrp="1"/>
          </p:cNvSpPr>
          <p:nvPr>
            <p:ph type="dt" sz="half" idx="10"/>
          </p:nvPr>
        </p:nvSpPr>
        <p:spPr/>
        <p:txBody>
          <a:bodyPr/>
          <a:lstStyle/>
          <a:p>
            <a:fld id="{E76AFD8A-A5CD-4C67-A3FF-50AE2C37EBEF}" type="datetimeFigureOut">
              <a:rPr lang="en-US" smtClean="0"/>
              <a:t>3/6/2026</a:t>
            </a:fld>
            <a:endParaRPr lang="en-US"/>
          </a:p>
        </p:txBody>
      </p:sp>
      <p:sp>
        <p:nvSpPr>
          <p:cNvPr id="6" name="Footer Placeholder 5">
            <a:extLst>
              <a:ext uri="{FF2B5EF4-FFF2-40B4-BE49-F238E27FC236}">
                <a16:creationId xmlns:a16="http://schemas.microsoft.com/office/drawing/2014/main" id="{F2B12D38-CBC9-4791-A7E9-D4C7B4AE031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5DDA2C7-3DB6-4C7C-AC1D-75F03A8291DC}"/>
              </a:ext>
            </a:extLst>
          </p:cNvPr>
          <p:cNvSpPr>
            <a:spLocks noGrp="1"/>
          </p:cNvSpPr>
          <p:nvPr>
            <p:ph type="sldNum" sz="quarter" idx="12"/>
          </p:nvPr>
        </p:nvSpPr>
        <p:spPr/>
        <p:txBody>
          <a:bodyPr/>
          <a:lstStyle/>
          <a:p>
            <a:fld id="{79AE4098-16CC-460A-B51F-6F7D058EC8B6}" type="slidenum">
              <a:rPr lang="en-US" smtClean="0"/>
              <a:t>‹#›</a:t>
            </a:fld>
            <a:endParaRPr lang="en-US"/>
          </a:p>
        </p:txBody>
      </p:sp>
    </p:spTree>
    <p:extLst>
      <p:ext uri="{BB962C8B-B14F-4D97-AF65-F5344CB8AC3E}">
        <p14:creationId xmlns:p14="http://schemas.microsoft.com/office/powerpoint/2010/main" val="11108971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EF71C-C053-4A0C-83AE-58D0FC892E1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9BD2367-03F2-4597-8A19-F933044CB7E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F1BEE887-91FF-42A7-A811-4D714E72C26F}"/>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B8C855A-5380-4709-8552-A43784B1F76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7F50D7BD-723B-4B9D-8B77-7B53A98FB66E}"/>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74905CA-4923-4694-BBEA-6B3F983DBCC6}"/>
              </a:ext>
            </a:extLst>
          </p:cNvPr>
          <p:cNvSpPr>
            <a:spLocks noGrp="1"/>
          </p:cNvSpPr>
          <p:nvPr>
            <p:ph type="dt" sz="half" idx="10"/>
          </p:nvPr>
        </p:nvSpPr>
        <p:spPr/>
        <p:txBody>
          <a:bodyPr/>
          <a:lstStyle/>
          <a:p>
            <a:fld id="{E76AFD8A-A5CD-4C67-A3FF-50AE2C37EBEF}" type="datetimeFigureOut">
              <a:rPr lang="en-US" smtClean="0"/>
              <a:t>3/6/2026</a:t>
            </a:fld>
            <a:endParaRPr lang="en-US"/>
          </a:p>
        </p:txBody>
      </p:sp>
      <p:sp>
        <p:nvSpPr>
          <p:cNvPr id="8" name="Footer Placeholder 7">
            <a:extLst>
              <a:ext uri="{FF2B5EF4-FFF2-40B4-BE49-F238E27FC236}">
                <a16:creationId xmlns:a16="http://schemas.microsoft.com/office/drawing/2014/main" id="{6F56430E-C4D3-4F74-A745-D2D0E2DE1F0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5F6AC7A-415C-4B81-ADFB-77F905E68AB1}"/>
              </a:ext>
            </a:extLst>
          </p:cNvPr>
          <p:cNvSpPr>
            <a:spLocks noGrp="1"/>
          </p:cNvSpPr>
          <p:nvPr>
            <p:ph type="sldNum" sz="quarter" idx="12"/>
          </p:nvPr>
        </p:nvSpPr>
        <p:spPr/>
        <p:txBody>
          <a:bodyPr/>
          <a:lstStyle/>
          <a:p>
            <a:fld id="{79AE4098-16CC-460A-B51F-6F7D058EC8B6}" type="slidenum">
              <a:rPr lang="en-US" smtClean="0"/>
              <a:t>‹#›</a:t>
            </a:fld>
            <a:endParaRPr lang="en-US"/>
          </a:p>
        </p:txBody>
      </p:sp>
    </p:spTree>
    <p:extLst>
      <p:ext uri="{BB962C8B-B14F-4D97-AF65-F5344CB8AC3E}">
        <p14:creationId xmlns:p14="http://schemas.microsoft.com/office/powerpoint/2010/main" val="3250117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A1A675-43E4-45A8-A342-E9FFE7DC2BC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9F83D32-E0A5-486B-A709-8FC6D15E204D}"/>
              </a:ext>
            </a:extLst>
          </p:cNvPr>
          <p:cNvSpPr>
            <a:spLocks noGrp="1"/>
          </p:cNvSpPr>
          <p:nvPr>
            <p:ph type="dt" sz="half" idx="10"/>
          </p:nvPr>
        </p:nvSpPr>
        <p:spPr/>
        <p:txBody>
          <a:bodyPr/>
          <a:lstStyle/>
          <a:p>
            <a:fld id="{E76AFD8A-A5CD-4C67-A3FF-50AE2C37EBEF}" type="datetimeFigureOut">
              <a:rPr lang="en-US" smtClean="0"/>
              <a:t>3/6/2026</a:t>
            </a:fld>
            <a:endParaRPr lang="en-US"/>
          </a:p>
        </p:txBody>
      </p:sp>
      <p:sp>
        <p:nvSpPr>
          <p:cNvPr id="4" name="Footer Placeholder 3">
            <a:extLst>
              <a:ext uri="{FF2B5EF4-FFF2-40B4-BE49-F238E27FC236}">
                <a16:creationId xmlns:a16="http://schemas.microsoft.com/office/drawing/2014/main" id="{FF531AD2-CD2C-40B2-90DE-D8D6E32394F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B64FA05-660C-4A55-99C4-2C4DED8BD410}"/>
              </a:ext>
            </a:extLst>
          </p:cNvPr>
          <p:cNvSpPr>
            <a:spLocks noGrp="1"/>
          </p:cNvSpPr>
          <p:nvPr>
            <p:ph type="sldNum" sz="quarter" idx="12"/>
          </p:nvPr>
        </p:nvSpPr>
        <p:spPr/>
        <p:txBody>
          <a:bodyPr/>
          <a:lstStyle/>
          <a:p>
            <a:fld id="{79AE4098-16CC-460A-B51F-6F7D058EC8B6}" type="slidenum">
              <a:rPr lang="en-US" smtClean="0"/>
              <a:t>‹#›</a:t>
            </a:fld>
            <a:endParaRPr lang="en-US"/>
          </a:p>
        </p:txBody>
      </p:sp>
    </p:spTree>
    <p:extLst>
      <p:ext uri="{BB962C8B-B14F-4D97-AF65-F5344CB8AC3E}">
        <p14:creationId xmlns:p14="http://schemas.microsoft.com/office/powerpoint/2010/main" val="26034494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BE30C2D-5DC3-481B-B69C-59A0C136728E}"/>
              </a:ext>
            </a:extLst>
          </p:cNvPr>
          <p:cNvSpPr>
            <a:spLocks noGrp="1"/>
          </p:cNvSpPr>
          <p:nvPr>
            <p:ph type="dt" sz="half" idx="10"/>
          </p:nvPr>
        </p:nvSpPr>
        <p:spPr/>
        <p:txBody>
          <a:bodyPr/>
          <a:lstStyle/>
          <a:p>
            <a:fld id="{E76AFD8A-A5CD-4C67-A3FF-50AE2C37EBEF}" type="datetimeFigureOut">
              <a:rPr lang="en-US" smtClean="0"/>
              <a:t>3/6/2026</a:t>
            </a:fld>
            <a:endParaRPr lang="en-US"/>
          </a:p>
        </p:txBody>
      </p:sp>
      <p:sp>
        <p:nvSpPr>
          <p:cNvPr id="3" name="Footer Placeholder 2">
            <a:extLst>
              <a:ext uri="{FF2B5EF4-FFF2-40B4-BE49-F238E27FC236}">
                <a16:creationId xmlns:a16="http://schemas.microsoft.com/office/drawing/2014/main" id="{B7FD4A22-48C6-4820-946E-4304DE2ABE2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140AF28-0D46-4B18-A061-8FD2143E0735}"/>
              </a:ext>
            </a:extLst>
          </p:cNvPr>
          <p:cNvSpPr>
            <a:spLocks noGrp="1"/>
          </p:cNvSpPr>
          <p:nvPr>
            <p:ph type="sldNum" sz="quarter" idx="12"/>
          </p:nvPr>
        </p:nvSpPr>
        <p:spPr/>
        <p:txBody>
          <a:bodyPr/>
          <a:lstStyle/>
          <a:p>
            <a:fld id="{79AE4098-16CC-460A-B51F-6F7D058EC8B6}" type="slidenum">
              <a:rPr lang="en-US" smtClean="0"/>
              <a:t>‹#›</a:t>
            </a:fld>
            <a:endParaRPr lang="en-US"/>
          </a:p>
        </p:txBody>
      </p:sp>
    </p:spTree>
    <p:extLst>
      <p:ext uri="{BB962C8B-B14F-4D97-AF65-F5344CB8AC3E}">
        <p14:creationId xmlns:p14="http://schemas.microsoft.com/office/powerpoint/2010/main" val="1448647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CF69F8-1412-4128-9880-8AC184057C2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3A33F12-F6A7-48F9-BC16-BC84B3C37D6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B37F5EA-44B0-4529-8817-68EC7BDAF3E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E66C7AF3-A07E-4903-9CA1-5088E7C03C6A}"/>
              </a:ext>
            </a:extLst>
          </p:cNvPr>
          <p:cNvSpPr>
            <a:spLocks noGrp="1"/>
          </p:cNvSpPr>
          <p:nvPr>
            <p:ph type="dt" sz="half" idx="10"/>
          </p:nvPr>
        </p:nvSpPr>
        <p:spPr/>
        <p:txBody>
          <a:bodyPr/>
          <a:lstStyle/>
          <a:p>
            <a:fld id="{E76AFD8A-A5CD-4C67-A3FF-50AE2C37EBEF}" type="datetimeFigureOut">
              <a:rPr lang="en-US" smtClean="0"/>
              <a:t>3/6/2026</a:t>
            </a:fld>
            <a:endParaRPr lang="en-US"/>
          </a:p>
        </p:txBody>
      </p:sp>
      <p:sp>
        <p:nvSpPr>
          <p:cNvPr id="6" name="Footer Placeholder 5">
            <a:extLst>
              <a:ext uri="{FF2B5EF4-FFF2-40B4-BE49-F238E27FC236}">
                <a16:creationId xmlns:a16="http://schemas.microsoft.com/office/drawing/2014/main" id="{30E8EB96-1803-4AF6-BCBC-E7760E444D0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7692959-7321-4CEF-803F-AEE3C145689A}"/>
              </a:ext>
            </a:extLst>
          </p:cNvPr>
          <p:cNvSpPr>
            <a:spLocks noGrp="1"/>
          </p:cNvSpPr>
          <p:nvPr>
            <p:ph type="sldNum" sz="quarter" idx="12"/>
          </p:nvPr>
        </p:nvSpPr>
        <p:spPr/>
        <p:txBody>
          <a:bodyPr/>
          <a:lstStyle/>
          <a:p>
            <a:fld id="{79AE4098-16CC-460A-B51F-6F7D058EC8B6}" type="slidenum">
              <a:rPr lang="en-US" smtClean="0"/>
              <a:t>‹#›</a:t>
            </a:fld>
            <a:endParaRPr lang="en-US"/>
          </a:p>
        </p:txBody>
      </p:sp>
    </p:spTree>
    <p:extLst>
      <p:ext uri="{BB962C8B-B14F-4D97-AF65-F5344CB8AC3E}">
        <p14:creationId xmlns:p14="http://schemas.microsoft.com/office/powerpoint/2010/main" val="8460855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EC01A5-5015-48FA-BAB2-405C704A1F6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A690792-E833-4345-BA65-DC2EB400425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F6F9430-3C15-44D8-BC73-9A63630716F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E42B8691-D324-423E-8FA7-C097CB881996}"/>
              </a:ext>
            </a:extLst>
          </p:cNvPr>
          <p:cNvSpPr>
            <a:spLocks noGrp="1"/>
          </p:cNvSpPr>
          <p:nvPr>
            <p:ph type="dt" sz="half" idx="10"/>
          </p:nvPr>
        </p:nvSpPr>
        <p:spPr/>
        <p:txBody>
          <a:bodyPr/>
          <a:lstStyle/>
          <a:p>
            <a:fld id="{E76AFD8A-A5CD-4C67-A3FF-50AE2C37EBEF}" type="datetimeFigureOut">
              <a:rPr lang="en-US" smtClean="0"/>
              <a:t>3/6/2026</a:t>
            </a:fld>
            <a:endParaRPr lang="en-US"/>
          </a:p>
        </p:txBody>
      </p:sp>
      <p:sp>
        <p:nvSpPr>
          <p:cNvPr id="6" name="Footer Placeholder 5">
            <a:extLst>
              <a:ext uri="{FF2B5EF4-FFF2-40B4-BE49-F238E27FC236}">
                <a16:creationId xmlns:a16="http://schemas.microsoft.com/office/drawing/2014/main" id="{F97D87CB-27CD-4D3C-8662-A94904AC653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078D1F8-614C-48DB-82A4-96F9D08E5F7F}"/>
              </a:ext>
            </a:extLst>
          </p:cNvPr>
          <p:cNvSpPr>
            <a:spLocks noGrp="1"/>
          </p:cNvSpPr>
          <p:nvPr>
            <p:ph type="sldNum" sz="quarter" idx="12"/>
          </p:nvPr>
        </p:nvSpPr>
        <p:spPr/>
        <p:txBody>
          <a:bodyPr/>
          <a:lstStyle/>
          <a:p>
            <a:fld id="{79AE4098-16CC-460A-B51F-6F7D058EC8B6}" type="slidenum">
              <a:rPr lang="en-US" smtClean="0"/>
              <a:t>‹#›</a:t>
            </a:fld>
            <a:endParaRPr lang="en-US"/>
          </a:p>
        </p:txBody>
      </p:sp>
    </p:spTree>
    <p:extLst>
      <p:ext uri="{BB962C8B-B14F-4D97-AF65-F5344CB8AC3E}">
        <p14:creationId xmlns:p14="http://schemas.microsoft.com/office/powerpoint/2010/main" val="30187174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229A92-0D5F-4D2F-9669-22AEAA58C46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FEF57B0-0EB1-4D5F-99A5-1999DCA22AB7}"/>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ECDCC9-5FB0-4470-9912-E22BD6D12F79}"/>
              </a:ext>
            </a:extLst>
          </p:cNvPr>
          <p:cNvSpPr>
            <a:spLocks noGrp="1"/>
          </p:cNvSpPr>
          <p:nvPr>
            <p:ph type="dt" sz="half" idx="10"/>
          </p:nvPr>
        </p:nvSpPr>
        <p:spPr/>
        <p:txBody>
          <a:bodyPr/>
          <a:lstStyle/>
          <a:p>
            <a:fld id="{E76AFD8A-A5CD-4C67-A3FF-50AE2C37EBEF}" type="datetimeFigureOut">
              <a:rPr lang="en-US" smtClean="0"/>
              <a:t>3/6/2026</a:t>
            </a:fld>
            <a:endParaRPr lang="en-US"/>
          </a:p>
        </p:txBody>
      </p:sp>
      <p:sp>
        <p:nvSpPr>
          <p:cNvPr id="5" name="Footer Placeholder 4">
            <a:extLst>
              <a:ext uri="{FF2B5EF4-FFF2-40B4-BE49-F238E27FC236}">
                <a16:creationId xmlns:a16="http://schemas.microsoft.com/office/drawing/2014/main" id="{0481787A-C33F-4015-B4D3-33037DCD61A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88DA280-8F94-40B8-97AB-69CC827DEAD4}"/>
              </a:ext>
            </a:extLst>
          </p:cNvPr>
          <p:cNvSpPr>
            <a:spLocks noGrp="1"/>
          </p:cNvSpPr>
          <p:nvPr>
            <p:ph type="sldNum" sz="quarter" idx="12"/>
          </p:nvPr>
        </p:nvSpPr>
        <p:spPr/>
        <p:txBody>
          <a:bodyPr/>
          <a:lstStyle/>
          <a:p>
            <a:fld id="{79AE4098-16CC-460A-B51F-6F7D058EC8B6}" type="slidenum">
              <a:rPr lang="en-US" smtClean="0"/>
              <a:t>‹#›</a:t>
            </a:fld>
            <a:endParaRPr lang="en-US"/>
          </a:p>
        </p:txBody>
      </p:sp>
    </p:spTree>
    <p:extLst>
      <p:ext uri="{BB962C8B-B14F-4D97-AF65-F5344CB8AC3E}">
        <p14:creationId xmlns:p14="http://schemas.microsoft.com/office/powerpoint/2010/main" val="639166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1056087-D90A-450B-966B-CDEF83E20DB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D99D8E4-050E-4605-BBF9-4B8DCF5AE2E9}"/>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5F7EB7F-A42F-44D4-A516-FDEE43C5DBDF}"/>
              </a:ext>
            </a:extLst>
          </p:cNvPr>
          <p:cNvSpPr>
            <a:spLocks noGrp="1"/>
          </p:cNvSpPr>
          <p:nvPr>
            <p:ph type="dt" sz="half" idx="10"/>
          </p:nvPr>
        </p:nvSpPr>
        <p:spPr/>
        <p:txBody>
          <a:bodyPr/>
          <a:lstStyle/>
          <a:p>
            <a:fld id="{E76AFD8A-A5CD-4C67-A3FF-50AE2C37EBEF}" type="datetimeFigureOut">
              <a:rPr lang="en-US" smtClean="0"/>
              <a:t>3/6/2026</a:t>
            </a:fld>
            <a:endParaRPr lang="en-US"/>
          </a:p>
        </p:txBody>
      </p:sp>
      <p:sp>
        <p:nvSpPr>
          <p:cNvPr id="5" name="Footer Placeholder 4">
            <a:extLst>
              <a:ext uri="{FF2B5EF4-FFF2-40B4-BE49-F238E27FC236}">
                <a16:creationId xmlns:a16="http://schemas.microsoft.com/office/drawing/2014/main" id="{6671F178-0123-4A2C-9AC6-F63343EDACE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116EE3-85D5-4F9B-98E6-8E5CD6EE5667}"/>
              </a:ext>
            </a:extLst>
          </p:cNvPr>
          <p:cNvSpPr>
            <a:spLocks noGrp="1"/>
          </p:cNvSpPr>
          <p:nvPr>
            <p:ph type="sldNum" sz="quarter" idx="12"/>
          </p:nvPr>
        </p:nvSpPr>
        <p:spPr/>
        <p:txBody>
          <a:bodyPr/>
          <a:lstStyle/>
          <a:p>
            <a:fld id="{79AE4098-16CC-460A-B51F-6F7D058EC8B6}" type="slidenum">
              <a:rPr lang="en-US" smtClean="0"/>
              <a:t>‹#›</a:t>
            </a:fld>
            <a:endParaRPr lang="en-US"/>
          </a:p>
        </p:txBody>
      </p:sp>
    </p:spTree>
    <p:extLst>
      <p:ext uri="{BB962C8B-B14F-4D97-AF65-F5344CB8AC3E}">
        <p14:creationId xmlns:p14="http://schemas.microsoft.com/office/powerpoint/2010/main" val="17493085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5578EF5-8928-4823-BA5A-A1110E7A2AE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EAF5535-4259-4BD8-814D-F5D682DBE49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8896544-3DC1-4721-AB17-5F8723350FB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76AFD8A-A5CD-4C67-A3FF-50AE2C37EBEF}" type="datetimeFigureOut">
              <a:rPr lang="en-US" smtClean="0"/>
              <a:t>3/6/2026</a:t>
            </a:fld>
            <a:endParaRPr lang="en-US"/>
          </a:p>
        </p:txBody>
      </p:sp>
      <p:sp>
        <p:nvSpPr>
          <p:cNvPr id="5" name="Footer Placeholder 4">
            <a:extLst>
              <a:ext uri="{FF2B5EF4-FFF2-40B4-BE49-F238E27FC236}">
                <a16:creationId xmlns:a16="http://schemas.microsoft.com/office/drawing/2014/main" id="{11537754-F83D-4798-AD12-B1FAEB0D1EC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0A5702A-3CD9-490B-9437-A5FEA37A798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9AE4098-16CC-460A-B51F-6F7D058EC8B6}" type="slidenum">
              <a:rPr lang="en-US" smtClean="0"/>
              <a:t>‹#›</a:t>
            </a:fld>
            <a:endParaRPr lang="en-US"/>
          </a:p>
        </p:txBody>
      </p:sp>
    </p:spTree>
    <p:extLst>
      <p:ext uri="{BB962C8B-B14F-4D97-AF65-F5344CB8AC3E}">
        <p14:creationId xmlns:p14="http://schemas.microsoft.com/office/powerpoint/2010/main" val="28897469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hyperlink" Target="file:///C:\Users\harsh\Downloads\Untitled%20(5)\Attendance%20Management%20Activity%20Diagram.png" TargetMode="External"/><Relationship Id="rId3" Type="http://schemas.openxmlformats.org/officeDocument/2006/relationships/image" Target="../media/image2.jpg"/><Relationship Id="rId7" Type="http://schemas.openxmlformats.org/officeDocument/2006/relationships/hyperlink" Target="file:///C:\Users\harsh\Downloads\Untitled%20(5)\UserRegistrationActivityDiagram.png" TargetMode="External"/><Relationship Id="rId12" Type="http://schemas.openxmlformats.org/officeDocument/2006/relationships/hyperlink" Target="file:///C:\Users\harsh\Downloads\Untitled%20(5)\Student%20deshboard%20%20activity%20diagram.png" TargetMode="External"/><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hyperlink" Target="file:///C:\Users\harsh\Downloads\Untitled%20(5)\AdminInitializationActivityDiagram.png" TargetMode="External"/><Relationship Id="rId11" Type="http://schemas.openxmlformats.org/officeDocument/2006/relationships/hyperlink" Target="file:///C:\Users\harsh\Downloads\Untitled%20(5)\Faculty%20deshboard%20%20activity%20diagram.png" TargetMode="External"/><Relationship Id="rId5" Type="http://schemas.openxmlformats.org/officeDocument/2006/relationships/hyperlink" Target="file:///C:\Users\harsh\Downloads\Untitled%20(5)\LoginActivityDiagram.png" TargetMode="External"/><Relationship Id="rId10" Type="http://schemas.openxmlformats.org/officeDocument/2006/relationships/hyperlink" Target="file:///C:\Users\harsh\Downloads\Untitled%20(5)\Admin%20deshboard%20%20activity%20diagram.png" TargetMode="External"/><Relationship Id="rId4" Type="http://schemas.openxmlformats.org/officeDocument/2006/relationships/hyperlink" Target="file:///C:\Users\harsh\Downloads\UseCase.png" TargetMode="External"/><Relationship Id="rId9" Type="http://schemas.openxmlformats.org/officeDocument/2006/relationships/hyperlink" Target="file:///C:\Users\harsh\Downloads\Untitled%20(5)\Marks%20Entry%20Activity%20Diagram.png"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4234EC-BC2E-429F-889E-ACBDBD3A948C}"/>
              </a:ext>
            </a:extLst>
          </p:cNvPr>
          <p:cNvSpPr>
            <a:spLocks noGrp="1"/>
          </p:cNvSpPr>
          <p:nvPr>
            <p:ph type="ctrTitle"/>
          </p:nvPr>
        </p:nvSpPr>
        <p:spPr/>
        <p:txBody>
          <a:bodyPr>
            <a:normAutofit fontScale="90000"/>
          </a:bodyPr>
          <a:lstStyle/>
          <a:p>
            <a:r>
              <a:rPr lang="en-US" sz="2400" dirty="0">
                <a:latin typeface="Cambria" panose="02040503050406030204" pitchFamily="18" charset="0"/>
                <a:ea typeface="Cambria" panose="02040503050406030204" pitchFamily="18" charset="0"/>
              </a:rPr>
              <a:t> Semester : 8</a:t>
            </a:r>
            <a:r>
              <a:rPr lang="en-US" sz="2400" baseline="30000" dirty="0">
                <a:latin typeface="Cambria" panose="02040503050406030204" pitchFamily="18" charset="0"/>
                <a:ea typeface="Cambria" panose="02040503050406030204" pitchFamily="18" charset="0"/>
              </a:rPr>
              <a:t>th</a:t>
            </a:r>
            <a:r>
              <a:rPr lang="en-US" sz="2400" dirty="0">
                <a:latin typeface="Cambria" panose="02040503050406030204" pitchFamily="18" charset="0"/>
                <a:ea typeface="Cambria" panose="02040503050406030204" pitchFamily="18" charset="0"/>
              </a:rPr>
              <a:t> </a:t>
            </a:r>
            <a:br>
              <a:rPr lang="en-US" sz="2400" dirty="0">
                <a:latin typeface="Cambria" panose="02040503050406030204" pitchFamily="18" charset="0"/>
                <a:ea typeface="Cambria" panose="02040503050406030204" pitchFamily="18" charset="0"/>
              </a:rPr>
            </a:br>
            <a:r>
              <a:rPr lang="en-US" sz="2400" dirty="0">
                <a:latin typeface="Cambria" panose="02040503050406030204" pitchFamily="18" charset="0"/>
                <a:ea typeface="Cambria" panose="02040503050406030204" pitchFamily="18" charset="0"/>
              </a:rPr>
              <a:t>Project Presentation </a:t>
            </a:r>
            <a:br>
              <a:rPr lang="en-US" sz="2400" dirty="0">
                <a:latin typeface="Cambria" panose="02040503050406030204" pitchFamily="18" charset="0"/>
                <a:ea typeface="Cambria" panose="02040503050406030204" pitchFamily="18" charset="0"/>
              </a:rPr>
            </a:br>
            <a:r>
              <a:rPr lang="en-US" sz="2400" dirty="0">
                <a:latin typeface="Cambria" panose="02040503050406030204" pitchFamily="18" charset="0"/>
                <a:ea typeface="Cambria" panose="02040503050406030204" pitchFamily="18" charset="0"/>
              </a:rPr>
              <a:t>On </a:t>
            </a:r>
            <a:br>
              <a:rPr lang="en-US" sz="2800" dirty="0">
                <a:latin typeface="Cambria" panose="02040503050406030204" pitchFamily="18" charset="0"/>
                <a:ea typeface="Cambria" panose="02040503050406030204" pitchFamily="18" charset="0"/>
              </a:rPr>
            </a:br>
            <a:r>
              <a:rPr lang="en-US" b="1" dirty="0">
                <a:latin typeface="Cambria" panose="02040503050406030204" pitchFamily="18" charset="0"/>
                <a:ea typeface="Cambria" panose="02040503050406030204" pitchFamily="18" charset="0"/>
              </a:rPr>
              <a:t>Academic Workflow Management System</a:t>
            </a:r>
          </a:p>
        </p:txBody>
      </p:sp>
      <p:sp>
        <p:nvSpPr>
          <p:cNvPr id="3" name="Subtitle 2">
            <a:extLst>
              <a:ext uri="{FF2B5EF4-FFF2-40B4-BE49-F238E27FC236}">
                <a16:creationId xmlns:a16="http://schemas.microsoft.com/office/drawing/2014/main" id="{024207B4-D25D-4CDF-B804-FD46CAF2AB7A}"/>
              </a:ext>
            </a:extLst>
          </p:cNvPr>
          <p:cNvSpPr>
            <a:spLocks noGrp="1"/>
          </p:cNvSpPr>
          <p:nvPr>
            <p:ph type="subTitle" idx="1"/>
          </p:nvPr>
        </p:nvSpPr>
        <p:spPr>
          <a:xfrm>
            <a:off x="1524000" y="4298467"/>
            <a:ext cx="10204174" cy="2133600"/>
          </a:xfrm>
        </p:spPr>
        <p:txBody>
          <a:bodyPr>
            <a:normAutofit fontScale="92500" lnSpcReduction="10000"/>
          </a:bodyPr>
          <a:lstStyle/>
          <a:p>
            <a:pPr algn="l"/>
            <a:r>
              <a:rPr lang="en-US" sz="2000" b="1" dirty="0"/>
              <a:t>Group Number</a:t>
            </a:r>
            <a:r>
              <a:rPr lang="en-US" sz="2000" dirty="0"/>
              <a:t>: 14</a:t>
            </a:r>
          </a:p>
          <a:p>
            <a:pPr algn="l"/>
            <a:r>
              <a:rPr lang="en-US" sz="2000" b="1" dirty="0"/>
              <a:t>Group Members</a:t>
            </a:r>
            <a:r>
              <a:rPr lang="en-US" sz="2000" dirty="0"/>
              <a:t>:</a:t>
            </a:r>
          </a:p>
          <a:p>
            <a:pPr algn="l"/>
            <a:r>
              <a:rPr lang="en-US" sz="2000" dirty="0"/>
              <a:t>1. Meet Patel 202206100110021</a:t>
            </a:r>
          </a:p>
          <a:p>
            <a:pPr algn="l"/>
            <a:r>
              <a:rPr lang="en-US" sz="2000" dirty="0"/>
              <a:t>2. Harsh Bhagat  202206100110092</a:t>
            </a:r>
          </a:p>
          <a:p>
            <a:pPr algn="l"/>
            <a:r>
              <a:rPr lang="en-US" sz="2000" dirty="0"/>
              <a:t>3. Parangi Panchal 202504102510005 </a:t>
            </a:r>
          </a:p>
          <a:p>
            <a:pPr algn="l"/>
            <a:r>
              <a:rPr lang="en-US" sz="2000" b="1" dirty="0"/>
              <a:t>Guide Name </a:t>
            </a:r>
            <a:r>
              <a:rPr lang="en-US" sz="2000" dirty="0"/>
              <a:t>: Mr. Rakesh savant </a:t>
            </a:r>
          </a:p>
        </p:txBody>
      </p:sp>
      <p:pic>
        <p:nvPicPr>
          <p:cNvPr id="5" name="Picture 4">
            <a:extLst>
              <a:ext uri="{FF2B5EF4-FFF2-40B4-BE49-F238E27FC236}">
                <a16:creationId xmlns:a16="http://schemas.microsoft.com/office/drawing/2014/main" id="{26E40516-509F-4FD1-94F1-BE0ECBBD92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6456" y="-266700"/>
            <a:ext cx="3200400" cy="2133600"/>
          </a:xfrm>
          <a:prstGeom prst="rect">
            <a:avLst/>
          </a:prstGeom>
        </p:spPr>
      </p:pic>
      <p:pic>
        <p:nvPicPr>
          <p:cNvPr id="7" name="Picture 6">
            <a:extLst>
              <a:ext uri="{FF2B5EF4-FFF2-40B4-BE49-F238E27FC236}">
                <a16:creationId xmlns:a16="http://schemas.microsoft.com/office/drawing/2014/main" id="{16E7CBE6-055E-4B12-926A-354FDDD8DA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91800" y="0"/>
            <a:ext cx="1600200" cy="1600200"/>
          </a:xfrm>
          <a:prstGeom prst="rect">
            <a:avLst/>
          </a:prstGeom>
        </p:spPr>
      </p:pic>
      <p:sp>
        <p:nvSpPr>
          <p:cNvPr id="8" name="TextBox 7">
            <a:extLst>
              <a:ext uri="{FF2B5EF4-FFF2-40B4-BE49-F238E27FC236}">
                <a16:creationId xmlns:a16="http://schemas.microsoft.com/office/drawing/2014/main" id="{A7CC88A1-2E75-45CF-821E-123FA2C0C2F9}"/>
              </a:ext>
            </a:extLst>
          </p:cNvPr>
          <p:cNvSpPr txBox="1"/>
          <p:nvPr/>
        </p:nvSpPr>
        <p:spPr>
          <a:xfrm>
            <a:off x="2305878" y="357809"/>
            <a:ext cx="7911548" cy="461665"/>
          </a:xfrm>
          <a:prstGeom prst="rect">
            <a:avLst/>
          </a:prstGeom>
          <a:noFill/>
        </p:spPr>
        <p:txBody>
          <a:bodyPr wrap="square" rtlCol="0">
            <a:spAutoFit/>
          </a:bodyPr>
          <a:lstStyle/>
          <a:p>
            <a:pPr algn="ctr"/>
            <a:r>
              <a:rPr lang="en-US" sz="2400" dirty="0">
                <a:latin typeface="Cambria" panose="02040503050406030204" pitchFamily="18" charset="0"/>
                <a:ea typeface="Cambria" panose="02040503050406030204" pitchFamily="18" charset="0"/>
              </a:rPr>
              <a:t>Babu Madhav Institute of Information Technology</a:t>
            </a:r>
          </a:p>
        </p:txBody>
      </p:sp>
    </p:spTree>
    <p:extLst>
      <p:ext uri="{BB962C8B-B14F-4D97-AF65-F5344CB8AC3E}">
        <p14:creationId xmlns:p14="http://schemas.microsoft.com/office/powerpoint/2010/main" val="34924174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96DB8C-8AAA-4D57-8C1D-8FFE34CF5333}"/>
              </a:ext>
            </a:extLst>
          </p:cNvPr>
          <p:cNvSpPr>
            <a:spLocks noGrp="1"/>
          </p:cNvSpPr>
          <p:nvPr>
            <p:ph type="title"/>
          </p:nvPr>
        </p:nvSpPr>
        <p:spPr>
          <a:xfrm>
            <a:off x="1881808" y="365125"/>
            <a:ext cx="8428383" cy="1325563"/>
          </a:xfrm>
        </p:spPr>
        <p:txBody>
          <a:bodyPr>
            <a:normAutofit/>
          </a:bodyPr>
          <a:lstStyle/>
          <a:p>
            <a:pPr algn="ctr"/>
            <a:r>
              <a:rPr lang="en-US" sz="3600" b="1" dirty="0">
                <a:latin typeface="Cambria" panose="02040503050406030204" pitchFamily="18" charset="0"/>
                <a:ea typeface="Cambria" panose="02040503050406030204" pitchFamily="18" charset="0"/>
              </a:rPr>
              <a:t>Table of Content</a:t>
            </a:r>
          </a:p>
        </p:txBody>
      </p:sp>
      <p:sp>
        <p:nvSpPr>
          <p:cNvPr id="3" name="Content Placeholder 2">
            <a:extLst>
              <a:ext uri="{FF2B5EF4-FFF2-40B4-BE49-F238E27FC236}">
                <a16:creationId xmlns:a16="http://schemas.microsoft.com/office/drawing/2014/main" id="{403D33DF-71F1-4508-AA91-45BABEF10A9D}"/>
              </a:ext>
            </a:extLst>
          </p:cNvPr>
          <p:cNvSpPr>
            <a:spLocks noGrp="1"/>
          </p:cNvSpPr>
          <p:nvPr>
            <p:ph idx="1"/>
          </p:nvPr>
        </p:nvSpPr>
        <p:spPr/>
        <p:txBody>
          <a:bodyPr/>
          <a:lstStyle/>
          <a:p>
            <a:r>
              <a:rPr lang="en-US" dirty="0"/>
              <a:t>Project Definition (Objective , Requirements)</a:t>
            </a:r>
          </a:p>
          <a:p>
            <a:r>
              <a:rPr lang="en-US" dirty="0"/>
              <a:t>Diagrams and system flow(According to your Project's technology domain)</a:t>
            </a:r>
          </a:p>
          <a:p>
            <a:r>
              <a:rPr lang="en-US" dirty="0"/>
              <a:t>Implementation</a:t>
            </a:r>
          </a:p>
          <a:p>
            <a:endParaRPr lang="en-US" dirty="0"/>
          </a:p>
        </p:txBody>
      </p:sp>
      <p:pic>
        <p:nvPicPr>
          <p:cNvPr id="4" name="Picture 3">
            <a:extLst>
              <a:ext uri="{FF2B5EF4-FFF2-40B4-BE49-F238E27FC236}">
                <a16:creationId xmlns:a16="http://schemas.microsoft.com/office/drawing/2014/main" id="{C1C85849-3F15-47BA-A363-A24EE4A56BC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6456" y="-307975"/>
            <a:ext cx="3200400" cy="2133600"/>
          </a:xfrm>
          <a:prstGeom prst="rect">
            <a:avLst/>
          </a:prstGeom>
        </p:spPr>
      </p:pic>
      <p:pic>
        <p:nvPicPr>
          <p:cNvPr id="5" name="Picture 4">
            <a:extLst>
              <a:ext uri="{FF2B5EF4-FFF2-40B4-BE49-F238E27FC236}">
                <a16:creationId xmlns:a16="http://schemas.microsoft.com/office/drawing/2014/main" id="{12B81B6F-B980-4F73-9469-45E5C90649C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91800" y="0"/>
            <a:ext cx="1600200" cy="1600200"/>
          </a:xfrm>
          <a:prstGeom prst="rect">
            <a:avLst/>
          </a:prstGeom>
        </p:spPr>
      </p:pic>
    </p:spTree>
    <p:extLst>
      <p:ext uri="{BB962C8B-B14F-4D97-AF65-F5344CB8AC3E}">
        <p14:creationId xmlns:p14="http://schemas.microsoft.com/office/powerpoint/2010/main" val="24009551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6DBD7-6CB1-E206-FFF0-D3051CA86C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B723CF-3092-8D7A-AF54-6E4BBFA4C69A}"/>
              </a:ext>
            </a:extLst>
          </p:cNvPr>
          <p:cNvSpPr>
            <a:spLocks noGrp="1"/>
          </p:cNvSpPr>
          <p:nvPr>
            <p:ph type="title"/>
          </p:nvPr>
        </p:nvSpPr>
        <p:spPr>
          <a:xfrm>
            <a:off x="1881808" y="365125"/>
            <a:ext cx="8428383" cy="1325563"/>
          </a:xfrm>
        </p:spPr>
        <p:txBody>
          <a:bodyPr>
            <a:normAutofit/>
          </a:bodyPr>
          <a:lstStyle/>
          <a:p>
            <a:pPr algn="ctr"/>
            <a:r>
              <a:rPr lang="en-GB" sz="3600" b="1" dirty="0">
                <a:latin typeface="Cambria" panose="02040503050406030204" pitchFamily="18" charset="0"/>
                <a:ea typeface="Cambria" panose="02040503050406030204" pitchFamily="18" charset="0"/>
              </a:rPr>
              <a:t>P</a:t>
            </a:r>
            <a:r>
              <a:rPr lang="en-US" sz="3600" b="1" dirty="0">
                <a:latin typeface="Cambria" panose="02040503050406030204" pitchFamily="18" charset="0"/>
                <a:ea typeface="Cambria" panose="02040503050406030204" pitchFamily="18" charset="0"/>
              </a:rPr>
              <a:t>roject definition </a:t>
            </a:r>
          </a:p>
        </p:txBody>
      </p:sp>
      <p:sp>
        <p:nvSpPr>
          <p:cNvPr id="3" name="Content Placeholder 2">
            <a:extLst>
              <a:ext uri="{FF2B5EF4-FFF2-40B4-BE49-F238E27FC236}">
                <a16:creationId xmlns:a16="http://schemas.microsoft.com/office/drawing/2014/main" id="{95AF7F73-CECC-A9CE-215F-029A277244AE}"/>
              </a:ext>
            </a:extLst>
          </p:cNvPr>
          <p:cNvSpPr>
            <a:spLocks noGrp="1"/>
          </p:cNvSpPr>
          <p:nvPr>
            <p:ph idx="1"/>
          </p:nvPr>
        </p:nvSpPr>
        <p:spPr>
          <a:xfrm>
            <a:off x="846826" y="1825625"/>
            <a:ext cx="10515600" cy="4351338"/>
          </a:xfrm>
        </p:spPr>
        <p:txBody>
          <a:bodyPr/>
          <a:lstStyle/>
          <a:p>
            <a:r>
              <a:rPr lang="en-US" dirty="0"/>
              <a:t>The Academic Workflow Management System is a web-based system used to manage academic activities in a college or university. It allows administrators, faculty members, and students to use one platform to manage student information, attendance, assessments, and academic performance.</a:t>
            </a:r>
            <a:endParaRPr lang="en-GB" dirty="0"/>
          </a:p>
          <a:p>
            <a:r>
              <a:rPr lang="en-US" dirty="0"/>
              <a:t>The system helps reduce manual work by automating tasks such as student enrollment, attendance tracking, assessment management, and result monitoring. This makes the process faster, reduces workload for staff, and improves transparency in academic management.</a:t>
            </a:r>
          </a:p>
        </p:txBody>
      </p:sp>
      <p:pic>
        <p:nvPicPr>
          <p:cNvPr id="4" name="Picture 3">
            <a:extLst>
              <a:ext uri="{FF2B5EF4-FFF2-40B4-BE49-F238E27FC236}">
                <a16:creationId xmlns:a16="http://schemas.microsoft.com/office/drawing/2014/main" id="{308EF44C-8270-2EF5-40B6-AEA9789B6D4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6456" y="-307975"/>
            <a:ext cx="3200400" cy="2133600"/>
          </a:xfrm>
          <a:prstGeom prst="rect">
            <a:avLst/>
          </a:prstGeom>
        </p:spPr>
      </p:pic>
      <p:pic>
        <p:nvPicPr>
          <p:cNvPr id="5" name="Picture 4">
            <a:extLst>
              <a:ext uri="{FF2B5EF4-FFF2-40B4-BE49-F238E27FC236}">
                <a16:creationId xmlns:a16="http://schemas.microsoft.com/office/drawing/2014/main" id="{4417EFF7-FF0C-CB97-8B71-0220A811848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91800" y="0"/>
            <a:ext cx="1600200" cy="1600200"/>
          </a:xfrm>
          <a:prstGeom prst="rect">
            <a:avLst/>
          </a:prstGeom>
        </p:spPr>
      </p:pic>
    </p:spTree>
    <p:extLst>
      <p:ext uri="{BB962C8B-B14F-4D97-AF65-F5344CB8AC3E}">
        <p14:creationId xmlns:p14="http://schemas.microsoft.com/office/powerpoint/2010/main" val="33597458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ECBAD8-A05F-8C80-E24A-2C3BE13B48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1B3CFA-F5D8-5438-3E78-60F816368C10}"/>
              </a:ext>
            </a:extLst>
          </p:cNvPr>
          <p:cNvSpPr>
            <a:spLocks noGrp="1"/>
          </p:cNvSpPr>
          <p:nvPr>
            <p:ph type="title"/>
          </p:nvPr>
        </p:nvSpPr>
        <p:spPr>
          <a:xfrm>
            <a:off x="1890434" y="365125"/>
            <a:ext cx="8428383" cy="1325563"/>
          </a:xfrm>
        </p:spPr>
        <p:txBody>
          <a:bodyPr>
            <a:normAutofit/>
          </a:bodyPr>
          <a:lstStyle/>
          <a:p>
            <a:pPr algn="ctr"/>
            <a:r>
              <a:rPr lang="en-GB" sz="3600" b="1" dirty="0">
                <a:latin typeface="Cambria" panose="02040503050406030204" pitchFamily="18" charset="0"/>
                <a:ea typeface="Cambria" panose="02040503050406030204" pitchFamily="18" charset="0"/>
              </a:rPr>
              <a:t>Purpose </a:t>
            </a:r>
            <a:endParaRPr lang="en-US" sz="3600" b="1" dirty="0">
              <a:latin typeface="Cambria" panose="02040503050406030204" pitchFamily="18" charset="0"/>
              <a:ea typeface="Cambria" panose="02040503050406030204" pitchFamily="18" charset="0"/>
            </a:endParaRPr>
          </a:p>
        </p:txBody>
      </p:sp>
      <p:sp>
        <p:nvSpPr>
          <p:cNvPr id="3" name="Content Placeholder 2">
            <a:extLst>
              <a:ext uri="{FF2B5EF4-FFF2-40B4-BE49-F238E27FC236}">
                <a16:creationId xmlns:a16="http://schemas.microsoft.com/office/drawing/2014/main" id="{A410E084-3461-4786-3141-13C3E610A900}"/>
              </a:ext>
            </a:extLst>
          </p:cNvPr>
          <p:cNvSpPr>
            <a:spLocks noGrp="1"/>
          </p:cNvSpPr>
          <p:nvPr>
            <p:ph idx="1"/>
          </p:nvPr>
        </p:nvSpPr>
        <p:spPr/>
        <p:txBody>
          <a:bodyPr/>
          <a:lstStyle/>
          <a:p>
            <a:r>
              <a:rPr lang="en-US" dirty="0"/>
              <a:t>The purpose of the </a:t>
            </a:r>
            <a:r>
              <a:rPr lang="en-US" b="1" dirty="0"/>
              <a:t>Academic Workflow Management System</a:t>
            </a:r>
            <a:r>
              <a:rPr lang="en-US" dirty="0"/>
              <a:t> is to make academic management easier by using a digital system instead of manual work.</a:t>
            </a:r>
            <a:endParaRPr lang="en-GB" dirty="0"/>
          </a:p>
          <a:p>
            <a:r>
              <a:rPr lang="en-US" dirty="0"/>
              <a:t>The system aims to:</a:t>
            </a:r>
          </a:p>
          <a:p>
            <a:pPr lvl="1"/>
            <a:r>
              <a:rPr lang="en-US" dirty="0"/>
              <a:t>Provide one platform to manage all academic information</a:t>
            </a:r>
            <a:r>
              <a:rPr lang="en-GB" dirty="0"/>
              <a:t>.</a:t>
            </a:r>
          </a:p>
          <a:p>
            <a:pPr lvl="1"/>
            <a:r>
              <a:rPr lang="en-US" dirty="0"/>
              <a:t>Allow administrators to manage students, faculty, courses, and subjects</a:t>
            </a:r>
            <a:r>
              <a:rPr lang="en-GB" dirty="0"/>
              <a:t>.</a:t>
            </a:r>
          </a:p>
          <a:p>
            <a:pPr lvl="1"/>
            <a:r>
              <a:rPr lang="en-US" dirty="0"/>
              <a:t>Help faculty record attendance and assessments easily</a:t>
            </a:r>
            <a:r>
              <a:rPr lang="en-GB" dirty="0"/>
              <a:t>.</a:t>
            </a:r>
          </a:p>
          <a:p>
            <a:pPr lvl="1"/>
            <a:r>
              <a:rPr lang="en-US" dirty="0"/>
              <a:t>Allow students to view their academic progress and performance</a:t>
            </a:r>
            <a:r>
              <a:rPr lang="en-GB" dirty="0"/>
              <a:t>.</a:t>
            </a:r>
          </a:p>
          <a:p>
            <a:pPr lvl="1"/>
            <a:r>
              <a:rPr lang="en-US" dirty="0"/>
              <a:t>Reduce manual work and paperwork in the academic management process.</a:t>
            </a:r>
          </a:p>
        </p:txBody>
      </p:sp>
      <p:pic>
        <p:nvPicPr>
          <p:cNvPr id="4" name="Picture 3">
            <a:extLst>
              <a:ext uri="{FF2B5EF4-FFF2-40B4-BE49-F238E27FC236}">
                <a16:creationId xmlns:a16="http://schemas.microsoft.com/office/drawing/2014/main" id="{2E4BD10E-D654-20CF-4C8D-1E3B7DB7EF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6456" y="-307975"/>
            <a:ext cx="3200400" cy="2133600"/>
          </a:xfrm>
          <a:prstGeom prst="rect">
            <a:avLst/>
          </a:prstGeom>
        </p:spPr>
      </p:pic>
      <p:pic>
        <p:nvPicPr>
          <p:cNvPr id="5" name="Picture 4">
            <a:extLst>
              <a:ext uri="{FF2B5EF4-FFF2-40B4-BE49-F238E27FC236}">
                <a16:creationId xmlns:a16="http://schemas.microsoft.com/office/drawing/2014/main" id="{9C77A8F9-F230-698E-E3F2-C116FE9E40E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06314" y="0"/>
            <a:ext cx="1600200" cy="1600200"/>
          </a:xfrm>
          <a:prstGeom prst="rect">
            <a:avLst/>
          </a:prstGeom>
        </p:spPr>
      </p:pic>
    </p:spTree>
    <p:extLst>
      <p:ext uri="{BB962C8B-B14F-4D97-AF65-F5344CB8AC3E}">
        <p14:creationId xmlns:p14="http://schemas.microsoft.com/office/powerpoint/2010/main" val="9215901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EF39E4-2ECA-5FC8-A7FF-876D52C8C1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3DD27E-0683-B2E2-76ED-FF759F929013}"/>
              </a:ext>
            </a:extLst>
          </p:cNvPr>
          <p:cNvSpPr>
            <a:spLocks noGrp="1"/>
          </p:cNvSpPr>
          <p:nvPr>
            <p:ph type="title"/>
          </p:nvPr>
        </p:nvSpPr>
        <p:spPr>
          <a:xfrm>
            <a:off x="1881808" y="365125"/>
            <a:ext cx="8428383" cy="1325563"/>
          </a:xfrm>
        </p:spPr>
        <p:txBody>
          <a:bodyPr>
            <a:normAutofit/>
          </a:bodyPr>
          <a:lstStyle/>
          <a:p>
            <a:pPr algn="ctr"/>
            <a:r>
              <a:rPr lang="en-GB" sz="3600" b="1" dirty="0">
                <a:latin typeface="Cambria" panose="02040503050406030204" pitchFamily="18" charset="0"/>
                <a:ea typeface="Cambria" panose="02040503050406030204" pitchFamily="18" charset="0"/>
              </a:rPr>
              <a:t>Project Scope </a:t>
            </a:r>
            <a:endParaRPr lang="en-US" sz="3600" b="1" dirty="0">
              <a:latin typeface="Cambria" panose="02040503050406030204" pitchFamily="18" charset="0"/>
              <a:ea typeface="Cambria" panose="02040503050406030204" pitchFamily="18" charset="0"/>
            </a:endParaRPr>
          </a:p>
        </p:txBody>
      </p:sp>
      <p:sp>
        <p:nvSpPr>
          <p:cNvPr id="3" name="Content Placeholder 2">
            <a:extLst>
              <a:ext uri="{FF2B5EF4-FFF2-40B4-BE49-F238E27FC236}">
                <a16:creationId xmlns:a16="http://schemas.microsoft.com/office/drawing/2014/main" id="{8B6EAB8B-D0BE-0F60-B75E-3C0D9E580726}"/>
              </a:ext>
            </a:extLst>
          </p:cNvPr>
          <p:cNvSpPr>
            <a:spLocks noGrp="1"/>
          </p:cNvSpPr>
          <p:nvPr>
            <p:ph idx="1"/>
          </p:nvPr>
        </p:nvSpPr>
        <p:spPr/>
        <p:txBody>
          <a:bodyPr>
            <a:normAutofit/>
          </a:bodyPr>
          <a:lstStyle/>
          <a:p>
            <a:r>
              <a:rPr lang="en-GB" dirty="0"/>
              <a:t>The scope of the </a:t>
            </a:r>
            <a:r>
              <a:rPr lang="en-GB" b="1" dirty="0"/>
              <a:t>Academic Workflow Management System</a:t>
            </a:r>
            <a:r>
              <a:rPr lang="en-GB" dirty="0"/>
              <a:t> includes managing and monitoring academic information such as student details, faculty information, attendance records, and assessment results.</a:t>
            </a:r>
          </a:p>
        </p:txBody>
      </p:sp>
      <p:pic>
        <p:nvPicPr>
          <p:cNvPr id="4" name="Picture 3">
            <a:extLst>
              <a:ext uri="{FF2B5EF4-FFF2-40B4-BE49-F238E27FC236}">
                <a16:creationId xmlns:a16="http://schemas.microsoft.com/office/drawing/2014/main" id="{5BC0BB46-FC7D-701C-79C5-31AD03539EC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6456" y="-307975"/>
            <a:ext cx="3200400" cy="2133600"/>
          </a:xfrm>
          <a:prstGeom prst="rect">
            <a:avLst/>
          </a:prstGeom>
        </p:spPr>
      </p:pic>
      <p:pic>
        <p:nvPicPr>
          <p:cNvPr id="5" name="Picture 4">
            <a:extLst>
              <a:ext uri="{FF2B5EF4-FFF2-40B4-BE49-F238E27FC236}">
                <a16:creationId xmlns:a16="http://schemas.microsoft.com/office/drawing/2014/main" id="{D6A8E6FD-1D3E-B077-EFB4-B8D273BF8B6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91800" y="0"/>
            <a:ext cx="1600200" cy="1600200"/>
          </a:xfrm>
          <a:prstGeom prst="rect">
            <a:avLst/>
          </a:prstGeom>
        </p:spPr>
      </p:pic>
    </p:spTree>
    <p:extLst>
      <p:ext uri="{BB962C8B-B14F-4D97-AF65-F5344CB8AC3E}">
        <p14:creationId xmlns:p14="http://schemas.microsoft.com/office/powerpoint/2010/main" val="2772873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61C01B-3B4F-F81E-B134-4167D0912F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73B5F7-E6F3-D9C6-9CA8-2369AD666BE5}"/>
              </a:ext>
            </a:extLst>
          </p:cNvPr>
          <p:cNvSpPr>
            <a:spLocks noGrp="1"/>
          </p:cNvSpPr>
          <p:nvPr>
            <p:ph type="title"/>
          </p:nvPr>
        </p:nvSpPr>
        <p:spPr>
          <a:xfrm>
            <a:off x="1881808" y="365125"/>
            <a:ext cx="8428383" cy="1325563"/>
          </a:xfrm>
        </p:spPr>
        <p:txBody>
          <a:bodyPr>
            <a:normAutofit/>
          </a:bodyPr>
          <a:lstStyle/>
          <a:p>
            <a:pPr algn="ctr"/>
            <a:r>
              <a:rPr lang="en-GB" sz="3600" b="1" dirty="0">
                <a:latin typeface="Cambria" panose="02040503050406030204" pitchFamily="18" charset="0"/>
                <a:ea typeface="Cambria" panose="02040503050406030204" pitchFamily="18" charset="0"/>
              </a:rPr>
              <a:t>Functional Requirements </a:t>
            </a:r>
            <a:endParaRPr lang="en-US" sz="3600" b="1" dirty="0">
              <a:latin typeface="Cambria" panose="02040503050406030204" pitchFamily="18" charset="0"/>
              <a:ea typeface="Cambria" panose="02040503050406030204" pitchFamily="18" charset="0"/>
            </a:endParaRPr>
          </a:p>
        </p:txBody>
      </p:sp>
      <p:pic>
        <p:nvPicPr>
          <p:cNvPr id="4" name="Picture 3">
            <a:extLst>
              <a:ext uri="{FF2B5EF4-FFF2-40B4-BE49-F238E27FC236}">
                <a16:creationId xmlns:a16="http://schemas.microsoft.com/office/drawing/2014/main" id="{7FB2D37E-9D12-0497-0420-E5AF90BFBEF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5506" y="-307975"/>
            <a:ext cx="3200400" cy="2133600"/>
          </a:xfrm>
          <a:prstGeom prst="rect">
            <a:avLst/>
          </a:prstGeom>
        </p:spPr>
      </p:pic>
      <p:pic>
        <p:nvPicPr>
          <p:cNvPr id="5" name="Picture 4">
            <a:extLst>
              <a:ext uri="{FF2B5EF4-FFF2-40B4-BE49-F238E27FC236}">
                <a16:creationId xmlns:a16="http://schemas.microsoft.com/office/drawing/2014/main" id="{348623D2-46AB-4588-51F8-8199AE1EABC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91800" y="0"/>
            <a:ext cx="1600200" cy="1600200"/>
          </a:xfrm>
          <a:prstGeom prst="rect">
            <a:avLst/>
          </a:prstGeom>
        </p:spPr>
      </p:pic>
      <p:graphicFrame>
        <p:nvGraphicFramePr>
          <p:cNvPr id="7" name="Content Placeholder 6">
            <a:extLst>
              <a:ext uri="{FF2B5EF4-FFF2-40B4-BE49-F238E27FC236}">
                <a16:creationId xmlns:a16="http://schemas.microsoft.com/office/drawing/2014/main" id="{B6B85603-5915-0500-502F-8CC91C2A536D}"/>
              </a:ext>
            </a:extLst>
          </p:cNvPr>
          <p:cNvGraphicFramePr>
            <a:graphicFrameLocks noGrp="1"/>
          </p:cNvGraphicFramePr>
          <p:nvPr>
            <p:ph idx="1"/>
            <p:extLst>
              <p:ext uri="{D42A27DB-BD31-4B8C-83A1-F6EECF244321}">
                <p14:modId xmlns:p14="http://schemas.microsoft.com/office/powerpoint/2010/main" val="2910647207"/>
              </p:ext>
            </p:extLst>
          </p:nvPr>
        </p:nvGraphicFramePr>
        <p:xfrm>
          <a:off x="838200" y="2257425"/>
          <a:ext cx="10515597" cy="3688080"/>
        </p:xfrm>
        <a:graphic>
          <a:graphicData uri="http://schemas.openxmlformats.org/drawingml/2006/table">
            <a:tbl>
              <a:tblPr firstRow="1" bandRow="1">
                <a:tableStyleId>{5C22544A-7EE6-4342-B048-85BDC9FD1C3A}</a:tableStyleId>
              </a:tblPr>
              <a:tblGrid>
                <a:gridCol w="731808">
                  <a:extLst>
                    <a:ext uri="{9D8B030D-6E8A-4147-A177-3AD203B41FA5}">
                      <a16:colId xmlns:a16="http://schemas.microsoft.com/office/drawing/2014/main" val="2066105551"/>
                    </a:ext>
                  </a:extLst>
                </a:gridCol>
                <a:gridCol w="6278590">
                  <a:extLst>
                    <a:ext uri="{9D8B030D-6E8A-4147-A177-3AD203B41FA5}">
                      <a16:colId xmlns:a16="http://schemas.microsoft.com/office/drawing/2014/main" val="218909693"/>
                    </a:ext>
                  </a:extLst>
                </a:gridCol>
                <a:gridCol w="3505199">
                  <a:extLst>
                    <a:ext uri="{9D8B030D-6E8A-4147-A177-3AD203B41FA5}">
                      <a16:colId xmlns:a16="http://schemas.microsoft.com/office/drawing/2014/main" val="3807934092"/>
                    </a:ext>
                  </a:extLst>
                </a:gridCol>
              </a:tblGrid>
              <a:tr h="370840">
                <a:tc>
                  <a:txBody>
                    <a:bodyPr/>
                    <a:lstStyle/>
                    <a:p>
                      <a:pPr>
                        <a:buNone/>
                      </a:pPr>
                      <a:r>
                        <a:rPr lang="en-IN" sz="2000"/>
                        <a:t>RN</a:t>
                      </a:r>
                    </a:p>
                  </a:txBody>
                  <a:tcPr anchor="ctr"/>
                </a:tc>
                <a:tc>
                  <a:txBody>
                    <a:bodyPr/>
                    <a:lstStyle/>
                    <a:p>
                      <a:pPr>
                        <a:buNone/>
                      </a:pPr>
                      <a:r>
                        <a:rPr lang="en-IN" sz="2000" dirty="0"/>
                        <a:t>Description</a:t>
                      </a:r>
                    </a:p>
                  </a:txBody>
                  <a:tcPr anchor="ctr"/>
                </a:tc>
                <a:tc>
                  <a:txBody>
                    <a:bodyPr/>
                    <a:lstStyle/>
                    <a:p>
                      <a:pPr>
                        <a:buNone/>
                      </a:pPr>
                      <a:r>
                        <a:rPr lang="en-IN" sz="2000"/>
                        <a:t>Comment</a:t>
                      </a:r>
                    </a:p>
                  </a:txBody>
                  <a:tcPr anchor="ctr"/>
                </a:tc>
                <a:extLst>
                  <a:ext uri="{0D108BD9-81ED-4DB2-BD59-A6C34878D82A}">
                    <a16:rowId xmlns:a16="http://schemas.microsoft.com/office/drawing/2014/main" val="432181887"/>
                  </a:ext>
                </a:extLst>
              </a:tr>
              <a:tr h="370840">
                <a:tc>
                  <a:txBody>
                    <a:bodyPr/>
                    <a:lstStyle/>
                    <a:p>
                      <a:pPr>
                        <a:buNone/>
                      </a:pPr>
                      <a:r>
                        <a:rPr lang="en-IN" sz="2000"/>
                        <a:t>FR1</a:t>
                      </a:r>
                    </a:p>
                  </a:txBody>
                  <a:tcPr anchor="ctr"/>
                </a:tc>
                <a:tc>
                  <a:txBody>
                    <a:bodyPr/>
                    <a:lstStyle/>
                    <a:p>
                      <a:pPr>
                        <a:buNone/>
                      </a:pPr>
                      <a:r>
                        <a:rPr lang="en-US" sz="2000"/>
                        <a:t>Users shall be able to log into the system using their login credentials.</a:t>
                      </a:r>
                    </a:p>
                  </a:txBody>
                  <a:tcPr anchor="ctr"/>
                </a:tc>
                <a:tc>
                  <a:txBody>
                    <a:bodyPr/>
                    <a:lstStyle/>
                    <a:p>
                      <a:pPr>
                        <a:buNone/>
                      </a:pPr>
                      <a:r>
                        <a:rPr lang="en-IN" sz="2000"/>
                        <a:t>Login</a:t>
                      </a:r>
                    </a:p>
                  </a:txBody>
                  <a:tcPr anchor="ctr"/>
                </a:tc>
                <a:extLst>
                  <a:ext uri="{0D108BD9-81ED-4DB2-BD59-A6C34878D82A}">
                    <a16:rowId xmlns:a16="http://schemas.microsoft.com/office/drawing/2014/main" val="1516389548"/>
                  </a:ext>
                </a:extLst>
              </a:tr>
              <a:tr h="370840">
                <a:tc>
                  <a:txBody>
                    <a:bodyPr/>
                    <a:lstStyle/>
                    <a:p>
                      <a:pPr>
                        <a:buNone/>
                      </a:pPr>
                      <a:r>
                        <a:rPr lang="en-IN" sz="2000"/>
                        <a:t>FR2</a:t>
                      </a:r>
                    </a:p>
                  </a:txBody>
                  <a:tcPr anchor="ctr"/>
                </a:tc>
                <a:tc>
                  <a:txBody>
                    <a:bodyPr/>
                    <a:lstStyle/>
                    <a:p>
                      <a:pPr>
                        <a:buNone/>
                      </a:pPr>
                      <a:r>
                        <a:rPr lang="en-US" sz="2000"/>
                        <a:t>Users shall be able to log out from the system securely.</a:t>
                      </a:r>
                    </a:p>
                  </a:txBody>
                  <a:tcPr anchor="ctr"/>
                </a:tc>
                <a:tc>
                  <a:txBody>
                    <a:bodyPr/>
                    <a:lstStyle/>
                    <a:p>
                      <a:pPr>
                        <a:buNone/>
                      </a:pPr>
                      <a:r>
                        <a:rPr lang="en-IN" sz="2000"/>
                        <a:t>Logout</a:t>
                      </a:r>
                    </a:p>
                  </a:txBody>
                  <a:tcPr anchor="ctr"/>
                </a:tc>
                <a:extLst>
                  <a:ext uri="{0D108BD9-81ED-4DB2-BD59-A6C34878D82A}">
                    <a16:rowId xmlns:a16="http://schemas.microsoft.com/office/drawing/2014/main" val="2512676066"/>
                  </a:ext>
                </a:extLst>
              </a:tr>
              <a:tr h="370840">
                <a:tc>
                  <a:txBody>
                    <a:bodyPr/>
                    <a:lstStyle/>
                    <a:p>
                      <a:pPr>
                        <a:buNone/>
                      </a:pPr>
                      <a:r>
                        <a:rPr lang="en-IN" sz="2000"/>
                        <a:t>FR3</a:t>
                      </a:r>
                    </a:p>
                  </a:txBody>
                  <a:tcPr anchor="ctr"/>
                </a:tc>
                <a:tc>
                  <a:txBody>
                    <a:bodyPr/>
                    <a:lstStyle/>
                    <a:p>
                      <a:pPr>
                        <a:buNone/>
                      </a:pPr>
                      <a:r>
                        <a:rPr lang="en-US" sz="2000"/>
                        <a:t>Users shall be able to view their profile information.</a:t>
                      </a:r>
                    </a:p>
                  </a:txBody>
                  <a:tcPr anchor="ctr"/>
                </a:tc>
                <a:tc>
                  <a:txBody>
                    <a:bodyPr/>
                    <a:lstStyle/>
                    <a:p>
                      <a:pPr>
                        <a:buNone/>
                      </a:pPr>
                      <a:r>
                        <a:rPr lang="en-IN" sz="2000"/>
                        <a:t>View Profile</a:t>
                      </a:r>
                    </a:p>
                  </a:txBody>
                  <a:tcPr anchor="ctr"/>
                </a:tc>
                <a:extLst>
                  <a:ext uri="{0D108BD9-81ED-4DB2-BD59-A6C34878D82A}">
                    <a16:rowId xmlns:a16="http://schemas.microsoft.com/office/drawing/2014/main" val="393143535"/>
                  </a:ext>
                </a:extLst>
              </a:tr>
              <a:tr h="370840">
                <a:tc>
                  <a:txBody>
                    <a:bodyPr/>
                    <a:lstStyle/>
                    <a:p>
                      <a:pPr>
                        <a:buNone/>
                      </a:pPr>
                      <a:r>
                        <a:rPr lang="en-IN" sz="2000"/>
                        <a:t>FR4</a:t>
                      </a:r>
                    </a:p>
                  </a:txBody>
                  <a:tcPr anchor="ctr"/>
                </a:tc>
                <a:tc>
                  <a:txBody>
                    <a:bodyPr/>
                    <a:lstStyle/>
                    <a:p>
                      <a:pPr>
                        <a:buNone/>
                      </a:pPr>
                      <a:r>
                        <a:rPr lang="en-US" sz="2000"/>
                        <a:t>Users shall be able to change their password securely.</a:t>
                      </a:r>
                    </a:p>
                  </a:txBody>
                  <a:tcPr anchor="ctr"/>
                </a:tc>
                <a:tc>
                  <a:txBody>
                    <a:bodyPr/>
                    <a:lstStyle/>
                    <a:p>
                      <a:pPr>
                        <a:buNone/>
                      </a:pPr>
                      <a:r>
                        <a:rPr lang="en-IN" sz="2000"/>
                        <a:t>Change Password</a:t>
                      </a:r>
                    </a:p>
                  </a:txBody>
                  <a:tcPr anchor="ctr"/>
                </a:tc>
                <a:extLst>
                  <a:ext uri="{0D108BD9-81ED-4DB2-BD59-A6C34878D82A}">
                    <a16:rowId xmlns:a16="http://schemas.microsoft.com/office/drawing/2014/main" val="410646989"/>
                  </a:ext>
                </a:extLst>
              </a:tr>
              <a:tr h="370840">
                <a:tc>
                  <a:txBody>
                    <a:bodyPr/>
                    <a:lstStyle/>
                    <a:p>
                      <a:pPr>
                        <a:buNone/>
                      </a:pPr>
                      <a:r>
                        <a:rPr lang="en-IN" sz="2000"/>
                        <a:t>FR5</a:t>
                      </a:r>
                    </a:p>
                  </a:txBody>
                  <a:tcPr anchor="ctr"/>
                </a:tc>
                <a:tc>
                  <a:txBody>
                    <a:bodyPr/>
                    <a:lstStyle/>
                    <a:p>
                      <a:pPr>
                        <a:buNone/>
                      </a:pPr>
                      <a:r>
                        <a:rPr lang="en-US" sz="2000" dirty="0"/>
                        <a:t>The system shall verify user identity using OTP during password updating process.</a:t>
                      </a:r>
                    </a:p>
                  </a:txBody>
                  <a:tcPr anchor="ctr"/>
                </a:tc>
                <a:tc>
                  <a:txBody>
                    <a:bodyPr/>
                    <a:lstStyle/>
                    <a:p>
                      <a:pPr>
                        <a:buNone/>
                      </a:pPr>
                      <a:r>
                        <a:rPr lang="en-IN" sz="2000"/>
                        <a:t>Verify OTP</a:t>
                      </a:r>
                    </a:p>
                  </a:txBody>
                  <a:tcPr anchor="ctr"/>
                </a:tc>
                <a:extLst>
                  <a:ext uri="{0D108BD9-81ED-4DB2-BD59-A6C34878D82A}">
                    <a16:rowId xmlns:a16="http://schemas.microsoft.com/office/drawing/2014/main" val="197748899"/>
                  </a:ext>
                </a:extLst>
              </a:tr>
              <a:tr h="370840">
                <a:tc>
                  <a:txBody>
                    <a:bodyPr/>
                    <a:lstStyle/>
                    <a:p>
                      <a:pPr>
                        <a:buNone/>
                      </a:pPr>
                      <a:r>
                        <a:rPr lang="en-IN" sz="2000"/>
                        <a:t>FR6</a:t>
                      </a:r>
                    </a:p>
                  </a:txBody>
                  <a:tcPr anchor="ctr"/>
                </a:tc>
                <a:tc>
                  <a:txBody>
                    <a:bodyPr/>
                    <a:lstStyle/>
                    <a:p>
                      <a:pPr>
                        <a:buNone/>
                      </a:pPr>
                      <a:r>
                        <a:rPr lang="en-US" sz="2000" dirty="0"/>
                        <a:t>Users shall be able to recover their account using the forgot password feature.</a:t>
                      </a:r>
                    </a:p>
                  </a:txBody>
                  <a:tcPr anchor="ctr"/>
                </a:tc>
                <a:tc>
                  <a:txBody>
                    <a:bodyPr/>
                    <a:lstStyle/>
                    <a:p>
                      <a:pPr>
                        <a:buNone/>
                      </a:pPr>
                      <a:r>
                        <a:rPr lang="en-IN" sz="2000" dirty="0"/>
                        <a:t>Forgot Password</a:t>
                      </a:r>
                    </a:p>
                  </a:txBody>
                  <a:tcPr anchor="ctr"/>
                </a:tc>
                <a:extLst>
                  <a:ext uri="{0D108BD9-81ED-4DB2-BD59-A6C34878D82A}">
                    <a16:rowId xmlns:a16="http://schemas.microsoft.com/office/drawing/2014/main" val="2689166781"/>
                  </a:ext>
                </a:extLst>
              </a:tr>
            </a:tbl>
          </a:graphicData>
        </a:graphic>
      </p:graphicFrame>
      <p:sp>
        <p:nvSpPr>
          <p:cNvPr id="3" name="TextBox 2">
            <a:extLst>
              <a:ext uri="{FF2B5EF4-FFF2-40B4-BE49-F238E27FC236}">
                <a16:creationId xmlns:a16="http://schemas.microsoft.com/office/drawing/2014/main" id="{44FEB25A-F10C-E8D2-06F5-FD879A7F0369}"/>
              </a:ext>
            </a:extLst>
          </p:cNvPr>
          <p:cNvSpPr txBox="1"/>
          <p:nvPr/>
        </p:nvSpPr>
        <p:spPr>
          <a:xfrm>
            <a:off x="546100" y="1527324"/>
            <a:ext cx="3973011" cy="461665"/>
          </a:xfrm>
          <a:prstGeom prst="rect">
            <a:avLst/>
          </a:prstGeom>
          <a:noFill/>
        </p:spPr>
        <p:txBody>
          <a:bodyPr wrap="none" rtlCol="0">
            <a:spAutoFit/>
          </a:bodyPr>
          <a:lstStyle/>
          <a:p>
            <a:r>
              <a:rPr lang="en-IN" sz="2400" b="1" dirty="0"/>
              <a:t>User Authentication Module :</a:t>
            </a:r>
          </a:p>
        </p:txBody>
      </p:sp>
    </p:spTree>
    <p:extLst>
      <p:ext uri="{BB962C8B-B14F-4D97-AF65-F5344CB8AC3E}">
        <p14:creationId xmlns:p14="http://schemas.microsoft.com/office/powerpoint/2010/main" val="17866523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B8179F-72A1-3C4B-CBB6-92F1FA9E93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3671AC-296C-8E91-9D99-86D42F3AE9F4}"/>
              </a:ext>
            </a:extLst>
          </p:cNvPr>
          <p:cNvSpPr>
            <a:spLocks noGrp="1"/>
          </p:cNvSpPr>
          <p:nvPr>
            <p:ph type="title"/>
          </p:nvPr>
        </p:nvSpPr>
        <p:spPr>
          <a:xfrm>
            <a:off x="1881808" y="365125"/>
            <a:ext cx="8428383" cy="1325563"/>
          </a:xfrm>
        </p:spPr>
        <p:txBody>
          <a:bodyPr>
            <a:normAutofit/>
          </a:bodyPr>
          <a:lstStyle/>
          <a:p>
            <a:pPr algn="ctr"/>
            <a:r>
              <a:rPr lang="en-GB" sz="3600" b="1" dirty="0">
                <a:latin typeface="Cambria" panose="02040503050406030204" pitchFamily="18" charset="0"/>
                <a:ea typeface="Cambria" panose="02040503050406030204" pitchFamily="18" charset="0"/>
              </a:rPr>
              <a:t>Functional Requirements </a:t>
            </a:r>
            <a:endParaRPr lang="en-US" sz="3600" b="1" dirty="0">
              <a:latin typeface="Cambria" panose="02040503050406030204" pitchFamily="18" charset="0"/>
              <a:ea typeface="Cambria" panose="02040503050406030204" pitchFamily="18" charset="0"/>
            </a:endParaRPr>
          </a:p>
        </p:txBody>
      </p:sp>
      <p:pic>
        <p:nvPicPr>
          <p:cNvPr id="4" name="Picture 3">
            <a:extLst>
              <a:ext uri="{FF2B5EF4-FFF2-40B4-BE49-F238E27FC236}">
                <a16:creationId xmlns:a16="http://schemas.microsoft.com/office/drawing/2014/main" id="{A165BD64-DAF2-6754-793F-8DD689CCCFE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6456" y="-307975"/>
            <a:ext cx="3200400" cy="2133600"/>
          </a:xfrm>
          <a:prstGeom prst="rect">
            <a:avLst/>
          </a:prstGeom>
        </p:spPr>
      </p:pic>
      <p:pic>
        <p:nvPicPr>
          <p:cNvPr id="5" name="Picture 4">
            <a:extLst>
              <a:ext uri="{FF2B5EF4-FFF2-40B4-BE49-F238E27FC236}">
                <a16:creationId xmlns:a16="http://schemas.microsoft.com/office/drawing/2014/main" id="{8D226BB8-9BE0-117C-F7C3-BBDCC6E9F08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91800" y="0"/>
            <a:ext cx="1600200" cy="1600200"/>
          </a:xfrm>
          <a:prstGeom prst="rect">
            <a:avLst/>
          </a:prstGeom>
        </p:spPr>
      </p:pic>
      <p:graphicFrame>
        <p:nvGraphicFramePr>
          <p:cNvPr id="7" name="Content Placeholder 6">
            <a:extLst>
              <a:ext uri="{FF2B5EF4-FFF2-40B4-BE49-F238E27FC236}">
                <a16:creationId xmlns:a16="http://schemas.microsoft.com/office/drawing/2014/main" id="{21A261CE-661D-8598-2C4C-3DCC15EE1943}"/>
              </a:ext>
            </a:extLst>
          </p:cNvPr>
          <p:cNvGraphicFramePr>
            <a:graphicFrameLocks noGrp="1"/>
          </p:cNvGraphicFramePr>
          <p:nvPr>
            <p:ph idx="1"/>
            <p:extLst>
              <p:ext uri="{D42A27DB-BD31-4B8C-83A1-F6EECF244321}">
                <p14:modId xmlns:p14="http://schemas.microsoft.com/office/powerpoint/2010/main" val="2896648108"/>
              </p:ext>
            </p:extLst>
          </p:nvPr>
        </p:nvGraphicFramePr>
        <p:xfrm>
          <a:off x="838200" y="2195195"/>
          <a:ext cx="10515597" cy="4297680"/>
        </p:xfrm>
        <a:graphic>
          <a:graphicData uri="http://schemas.openxmlformats.org/drawingml/2006/table">
            <a:tbl>
              <a:tblPr firstRow="1" bandRow="1">
                <a:tableStyleId>{5C22544A-7EE6-4342-B048-85BDC9FD1C3A}</a:tableStyleId>
              </a:tblPr>
              <a:tblGrid>
                <a:gridCol w="731808">
                  <a:extLst>
                    <a:ext uri="{9D8B030D-6E8A-4147-A177-3AD203B41FA5}">
                      <a16:colId xmlns:a16="http://schemas.microsoft.com/office/drawing/2014/main" val="2066105551"/>
                    </a:ext>
                  </a:extLst>
                </a:gridCol>
                <a:gridCol w="6278590">
                  <a:extLst>
                    <a:ext uri="{9D8B030D-6E8A-4147-A177-3AD203B41FA5}">
                      <a16:colId xmlns:a16="http://schemas.microsoft.com/office/drawing/2014/main" val="218909693"/>
                    </a:ext>
                  </a:extLst>
                </a:gridCol>
                <a:gridCol w="3505199">
                  <a:extLst>
                    <a:ext uri="{9D8B030D-6E8A-4147-A177-3AD203B41FA5}">
                      <a16:colId xmlns:a16="http://schemas.microsoft.com/office/drawing/2014/main" val="3807934092"/>
                    </a:ext>
                  </a:extLst>
                </a:gridCol>
              </a:tblGrid>
              <a:tr h="370840">
                <a:tc>
                  <a:txBody>
                    <a:bodyPr/>
                    <a:lstStyle/>
                    <a:p>
                      <a:pPr>
                        <a:buNone/>
                      </a:pPr>
                      <a:r>
                        <a:rPr lang="en-IN" sz="2000" dirty="0"/>
                        <a:t>RN</a:t>
                      </a:r>
                    </a:p>
                  </a:txBody>
                  <a:tcPr anchor="ctr"/>
                </a:tc>
                <a:tc>
                  <a:txBody>
                    <a:bodyPr/>
                    <a:lstStyle/>
                    <a:p>
                      <a:pPr>
                        <a:buNone/>
                      </a:pPr>
                      <a:r>
                        <a:rPr lang="en-IN" sz="2000"/>
                        <a:t>Description</a:t>
                      </a:r>
                    </a:p>
                  </a:txBody>
                  <a:tcPr anchor="ctr"/>
                </a:tc>
                <a:tc>
                  <a:txBody>
                    <a:bodyPr/>
                    <a:lstStyle/>
                    <a:p>
                      <a:pPr>
                        <a:buNone/>
                      </a:pPr>
                      <a:r>
                        <a:rPr lang="en-IN" sz="2000"/>
                        <a:t>Comment</a:t>
                      </a:r>
                    </a:p>
                  </a:txBody>
                  <a:tcPr anchor="ctr"/>
                </a:tc>
                <a:extLst>
                  <a:ext uri="{0D108BD9-81ED-4DB2-BD59-A6C34878D82A}">
                    <a16:rowId xmlns:a16="http://schemas.microsoft.com/office/drawing/2014/main" val="432181887"/>
                  </a:ext>
                </a:extLst>
              </a:tr>
              <a:tr h="370840">
                <a:tc>
                  <a:txBody>
                    <a:bodyPr/>
                    <a:lstStyle/>
                    <a:p>
                      <a:pPr>
                        <a:buNone/>
                      </a:pPr>
                      <a:r>
                        <a:rPr lang="en-IN" sz="2000" dirty="0"/>
                        <a:t>FR1</a:t>
                      </a:r>
                    </a:p>
                  </a:txBody>
                  <a:tcPr anchor="ctr"/>
                </a:tc>
                <a:tc>
                  <a:txBody>
                    <a:bodyPr/>
                    <a:lstStyle/>
                    <a:p>
                      <a:pPr>
                        <a:buNone/>
                      </a:pPr>
                      <a:r>
                        <a:rPr lang="en-US" sz="2000"/>
                        <a:t>Admin shall be able to create new users such as students and faculty.</a:t>
                      </a:r>
                    </a:p>
                  </a:txBody>
                  <a:tcPr anchor="ctr"/>
                </a:tc>
                <a:tc>
                  <a:txBody>
                    <a:bodyPr/>
                    <a:lstStyle/>
                    <a:p>
                      <a:pPr>
                        <a:buNone/>
                      </a:pPr>
                      <a:r>
                        <a:rPr lang="en-IN" sz="2000"/>
                        <a:t>Create User</a:t>
                      </a:r>
                    </a:p>
                  </a:txBody>
                  <a:tcPr anchor="ctr"/>
                </a:tc>
                <a:extLst>
                  <a:ext uri="{0D108BD9-81ED-4DB2-BD59-A6C34878D82A}">
                    <a16:rowId xmlns:a16="http://schemas.microsoft.com/office/drawing/2014/main" val="1516389548"/>
                  </a:ext>
                </a:extLst>
              </a:tr>
              <a:tr h="370840">
                <a:tc>
                  <a:txBody>
                    <a:bodyPr/>
                    <a:lstStyle/>
                    <a:p>
                      <a:pPr>
                        <a:buNone/>
                      </a:pPr>
                      <a:r>
                        <a:rPr lang="en-IN" sz="2000" dirty="0"/>
                        <a:t>FR2</a:t>
                      </a:r>
                    </a:p>
                  </a:txBody>
                  <a:tcPr anchor="ctr"/>
                </a:tc>
                <a:tc>
                  <a:txBody>
                    <a:bodyPr/>
                    <a:lstStyle/>
                    <a:p>
                      <a:pPr>
                        <a:buNone/>
                      </a:pPr>
                      <a:r>
                        <a:rPr lang="en-US" sz="2000"/>
                        <a:t>Admin shall be able to upload multiple users using bulk upload.</a:t>
                      </a:r>
                    </a:p>
                  </a:txBody>
                  <a:tcPr anchor="ctr"/>
                </a:tc>
                <a:tc>
                  <a:txBody>
                    <a:bodyPr/>
                    <a:lstStyle/>
                    <a:p>
                      <a:pPr>
                        <a:buNone/>
                      </a:pPr>
                      <a:r>
                        <a:rPr lang="en-IN" sz="2000"/>
                        <a:t>Bulk Upload User</a:t>
                      </a:r>
                    </a:p>
                  </a:txBody>
                  <a:tcPr anchor="ctr"/>
                </a:tc>
                <a:extLst>
                  <a:ext uri="{0D108BD9-81ED-4DB2-BD59-A6C34878D82A}">
                    <a16:rowId xmlns:a16="http://schemas.microsoft.com/office/drawing/2014/main" val="2512676066"/>
                  </a:ext>
                </a:extLst>
              </a:tr>
              <a:tr h="370840">
                <a:tc>
                  <a:txBody>
                    <a:bodyPr/>
                    <a:lstStyle/>
                    <a:p>
                      <a:pPr>
                        <a:buNone/>
                      </a:pPr>
                      <a:r>
                        <a:rPr lang="en-IN" sz="2000" dirty="0"/>
                        <a:t>FR3</a:t>
                      </a:r>
                    </a:p>
                  </a:txBody>
                  <a:tcPr anchor="ctr"/>
                </a:tc>
                <a:tc>
                  <a:txBody>
                    <a:bodyPr/>
                    <a:lstStyle/>
                    <a:p>
                      <a:pPr>
                        <a:buNone/>
                      </a:pPr>
                      <a:r>
                        <a:rPr lang="en-US" sz="2000"/>
                        <a:t>Admin shall be able to manage subjects offered in the system.</a:t>
                      </a:r>
                    </a:p>
                  </a:txBody>
                  <a:tcPr anchor="ctr"/>
                </a:tc>
                <a:tc>
                  <a:txBody>
                    <a:bodyPr/>
                    <a:lstStyle/>
                    <a:p>
                      <a:pPr>
                        <a:buNone/>
                      </a:pPr>
                      <a:r>
                        <a:rPr lang="en-IN" sz="2000"/>
                        <a:t>Manage Subject</a:t>
                      </a:r>
                    </a:p>
                  </a:txBody>
                  <a:tcPr anchor="ctr"/>
                </a:tc>
                <a:extLst>
                  <a:ext uri="{0D108BD9-81ED-4DB2-BD59-A6C34878D82A}">
                    <a16:rowId xmlns:a16="http://schemas.microsoft.com/office/drawing/2014/main" val="393143535"/>
                  </a:ext>
                </a:extLst>
              </a:tr>
              <a:tr h="370840">
                <a:tc>
                  <a:txBody>
                    <a:bodyPr/>
                    <a:lstStyle/>
                    <a:p>
                      <a:pPr>
                        <a:buNone/>
                      </a:pPr>
                      <a:r>
                        <a:rPr lang="en-IN" sz="2000" dirty="0"/>
                        <a:t>FR4</a:t>
                      </a:r>
                    </a:p>
                  </a:txBody>
                  <a:tcPr anchor="ctr"/>
                </a:tc>
                <a:tc>
                  <a:txBody>
                    <a:bodyPr/>
                    <a:lstStyle/>
                    <a:p>
                      <a:pPr>
                        <a:buNone/>
                      </a:pPr>
                      <a:r>
                        <a:rPr lang="en-US" sz="2000"/>
                        <a:t>Admin shall be able to manage sections for different semesters.</a:t>
                      </a:r>
                    </a:p>
                  </a:txBody>
                  <a:tcPr anchor="ctr"/>
                </a:tc>
                <a:tc>
                  <a:txBody>
                    <a:bodyPr/>
                    <a:lstStyle/>
                    <a:p>
                      <a:pPr>
                        <a:buNone/>
                      </a:pPr>
                      <a:r>
                        <a:rPr lang="en-IN" sz="2000"/>
                        <a:t>Manage Section</a:t>
                      </a:r>
                    </a:p>
                  </a:txBody>
                  <a:tcPr anchor="ctr"/>
                </a:tc>
                <a:extLst>
                  <a:ext uri="{0D108BD9-81ED-4DB2-BD59-A6C34878D82A}">
                    <a16:rowId xmlns:a16="http://schemas.microsoft.com/office/drawing/2014/main" val="410646989"/>
                  </a:ext>
                </a:extLst>
              </a:tr>
              <a:tr h="370840">
                <a:tc>
                  <a:txBody>
                    <a:bodyPr/>
                    <a:lstStyle/>
                    <a:p>
                      <a:pPr>
                        <a:buNone/>
                      </a:pPr>
                      <a:r>
                        <a:rPr lang="en-IN" sz="2000" dirty="0"/>
                        <a:t>FR5</a:t>
                      </a:r>
                    </a:p>
                  </a:txBody>
                  <a:tcPr anchor="ctr"/>
                </a:tc>
                <a:tc>
                  <a:txBody>
                    <a:bodyPr/>
                    <a:lstStyle/>
                    <a:p>
                      <a:pPr>
                        <a:buNone/>
                      </a:pPr>
                      <a:r>
                        <a:rPr lang="en-US" sz="2000"/>
                        <a:t>Admin shall be able to create and manage class timetables.</a:t>
                      </a:r>
                    </a:p>
                  </a:txBody>
                  <a:tcPr anchor="ctr"/>
                </a:tc>
                <a:tc>
                  <a:txBody>
                    <a:bodyPr/>
                    <a:lstStyle/>
                    <a:p>
                      <a:pPr>
                        <a:buNone/>
                      </a:pPr>
                      <a:r>
                        <a:rPr lang="en-IN" sz="2000"/>
                        <a:t>Manage Timetable</a:t>
                      </a:r>
                    </a:p>
                  </a:txBody>
                  <a:tcPr anchor="ctr"/>
                </a:tc>
                <a:extLst>
                  <a:ext uri="{0D108BD9-81ED-4DB2-BD59-A6C34878D82A}">
                    <a16:rowId xmlns:a16="http://schemas.microsoft.com/office/drawing/2014/main" val="197748899"/>
                  </a:ext>
                </a:extLst>
              </a:tr>
              <a:tr h="370840">
                <a:tc>
                  <a:txBody>
                    <a:bodyPr/>
                    <a:lstStyle/>
                    <a:p>
                      <a:pPr>
                        <a:buNone/>
                      </a:pPr>
                      <a:r>
                        <a:rPr lang="en-IN" sz="2000" dirty="0"/>
                        <a:t>FR6</a:t>
                      </a:r>
                    </a:p>
                  </a:txBody>
                  <a:tcPr anchor="ctr"/>
                </a:tc>
                <a:tc>
                  <a:txBody>
                    <a:bodyPr/>
                    <a:lstStyle/>
                    <a:p>
                      <a:pPr>
                        <a:buNone/>
                      </a:pPr>
                      <a:r>
                        <a:rPr lang="en-US" sz="2000" dirty="0"/>
                        <a:t>Admin shall be able to assign mentors to students.</a:t>
                      </a:r>
                    </a:p>
                  </a:txBody>
                  <a:tcPr anchor="ctr"/>
                </a:tc>
                <a:tc>
                  <a:txBody>
                    <a:bodyPr/>
                    <a:lstStyle/>
                    <a:p>
                      <a:pPr>
                        <a:buNone/>
                      </a:pPr>
                      <a:r>
                        <a:rPr lang="en-IN" sz="2000" dirty="0"/>
                        <a:t>Assign Mentor</a:t>
                      </a:r>
                    </a:p>
                  </a:txBody>
                  <a:tcPr anchor="ctr"/>
                </a:tc>
                <a:extLst>
                  <a:ext uri="{0D108BD9-81ED-4DB2-BD59-A6C34878D82A}">
                    <a16:rowId xmlns:a16="http://schemas.microsoft.com/office/drawing/2014/main" val="2689166781"/>
                  </a:ext>
                </a:extLst>
              </a:tr>
            </a:tbl>
          </a:graphicData>
        </a:graphic>
      </p:graphicFrame>
      <p:sp>
        <p:nvSpPr>
          <p:cNvPr id="3" name="TextBox 2">
            <a:extLst>
              <a:ext uri="{FF2B5EF4-FFF2-40B4-BE49-F238E27FC236}">
                <a16:creationId xmlns:a16="http://schemas.microsoft.com/office/drawing/2014/main" id="{FDB10A38-C641-EE78-FA27-43CAFAAB0A91}"/>
              </a:ext>
            </a:extLst>
          </p:cNvPr>
          <p:cNvSpPr txBox="1"/>
          <p:nvPr/>
        </p:nvSpPr>
        <p:spPr>
          <a:xfrm>
            <a:off x="546100" y="1527324"/>
            <a:ext cx="3871766" cy="461665"/>
          </a:xfrm>
          <a:prstGeom prst="rect">
            <a:avLst/>
          </a:prstGeom>
          <a:noFill/>
        </p:spPr>
        <p:txBody>
          <a:bodyPr wrap="none" rtlCol="0">
            <a:spAutoFit/>
          </a:bodyPr>
          <a:lstStyle/>
          <a:p>
            <a:r>
              <a:rPr lang="en-IN" sz="2400" b="1" dirty="0"/>
              <a:t>Admin Management Module</a:t>
            </a:r>
          </a:p>
        </p:txBody>
      </p:sp>
    </p:spTree>
    <p:extLst>
      <p:ext uri="{BB962C8B-B14F-4D97-AF65-F5344CB8AC3E}">
        <p14:creationId xmlns:p14="http://schemas.microsoft.com/office/powerpoint/2010/main" val="14495706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42DE51-8D59-56A8-01FA-3923C2C974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C8F3C7-A0BC-36D5-869B-12954AFD036C}"/>
              </a:ext>
            </a:extLst>
          </p:cNvPr>
          <p:cNvSpPr>
            <a:spLocks noGrp="1"/>
          </p:cNvSpPr>
          <p:nvPr>
            <p:ph type="title"/>
          </p:nvPr>
        </p:nvSpPr>
        <p:spPr>
          <a:xfrm>
            <a:off x="1881808" y="365125"/>
            <a:ext cx="8428383" cy="1325563"/>
          </a:xfrm>
        </p:spPr>
        <p:txBody>
          <a:bodyPr>
            <a:normAutofit/>
          </a:bodyPr>
          <a:lstStyle/>
          <a:p>
            <a:pPr algn="ctr"/>
            <a:r>
              <a:rPr lang="en-GB" sz="3600" b="1" dirty="0">
                <a:latin typeface="Cambria" panose="02040503050406030204" pitchFamily="18" charset="0"/>
                <a:ea typeface="Cambria" panose="02040503050406030204" pitchFamily="18" charset="0"/>
              </a:rPr>
              <a:t>Functional Requirements </a:t>
            </a:r>
            <a:endParaRPr lang="en-US" sz="3600" b="1" dirty="0">
              <a:latin typeface="Cambria" panose="02040503050406030204" pitchFamily="18" charset="0"/>
              <a:ea typeface="Cambria" panose="02040503050406030204" pitchFamily="18" charset="0"/>
            </a:endParaRPr>
          </a:p>
        </p:txBody>
      </p:sp>
      <p:pic>
        <p:nvPicPr>
          <p:cNvPr id="4" name="Picture 3">
            <a:extLst>
              <a:ext uri="{FF2B5EF4-FFF2-40B4-BE49-F238E27FC236}">
                <a16:creationId xmlns:a16="http://schemas.microsoft.com/office/drawing/2014/main" id="{F67CF537-FFB7-586A-A57E-E6ABE07423E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6456" y="-307975"/>
            <a:ext cx="3200400" cy="2133600"/>
          </a:xfrm>
          <a:prstGeom prst="rect">
            <a:avLst/>
          </a:prstGeom>
        </p:spPr>
      </p:pic>
      <p:pic>
        <p:nvPicPr>
          <p:cNvPr id="5" name="Picture 4">
            <a:extLst>
              <a:ext uri="{FF2B5EF4-FFF2-40B4-BE49-F238E27FC236}">
                <a16:creationId xmlns:a16="http://schemas.microsoft.com/office/drawing/2014/main" id="{EFEF201F-F3E1-1AC8-F018-57454601ED7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91800" y="0"/>
            <a:ext cx="1600200" cy="1600200"/>
          </a:xfrm>
          <a:prstGeom prst="rect">
            <a:avLst/>
          </a:prstGeom>
        </p:spPr>
      </p:pic>
      <p:graphicFrame>
        <p:nvGraphicFramePr>
          <p:cNvPr id="7" name="Content Placeholder 6">
            <a:extLst>
              <a:ext uri="{FF2B5EF4-FFF2-40B4-BE49-F238E27FC236}">
                <a16:creationId xmlns:a16="http://schemas.microsoft.com/office/drawing/2014/main" id="{5A559A63-1A13-D41B-231B-0F7C715048B6}"/>
              </a:ext>
            </a:extLst>
          </p:cNvPr>
          <p:cNvGraphicFramePr>
            <a:graphicFrameLocks noGrp="1"/>
          </p:cNvGraphicFramePr>
          <p:nvPr>
            <p:ph idx="1"/>
            <p:extLst>
              <p:ext uri="{D42A27DB-BD31-4B8C-83A1-F6EECF244321}">
                <p14:modId xmlns:p14="http://schemas.microsoft.com/office/powerpoint/2010/main" val="3870870279"/>
              </p:ext>
            </p:extLst>
          </p:nvPr>
        </p:nvGraphicFramePr>
        <p:xfrm>
          <a:off x="838200" y="2150382"/>
          <a:ext cx="10515597" cy="4480560"/>
        </p:xfrm>
        <a:graphic>
          <a:graphicData uri="http://schemas.openxmlformats.org/drawingml/2006/table">
            <a:tbl>
              <a:tblPr firstRow="1" bandRow="1">
                <a:tableStyleId>{5C22544A-7EE6-4342-B048-85BDC9FD1C3A}</a:tableStyleId>
              </a:tblPr>
              <a:tblGrid>
                <a:gridCol w="731808">
                  <a:extLst>
                    <a:ext uri="{9D8B030D-6E8A-4147-A177-3AD203B41FA5}">
                      <a16:colId xmlns:a16="http://schemas.microsoft.com/office/drawing/2014/main" val="2066105551"/>
                    </a:ext>
                  </a:extLst>
                </a:gridCol>
                <a:gridCol w="6278590">
                  <a:extLst>
                    <a:ext uri="{9D8B030D-6E8A-4147-A177-3AD203B41FA5}">
                      <a16:colId xmlns:a16="http://schemas.microsoft.com/office/drawing/2014/main" val="218909693"/>
                    </a:ext>
                  </a:extLst>
                </a:gridCol>
                <a:gridCol w="3505199">
                  <a:extLst>
                    <a:ext uri="{9D8B030D-6E8A-4147-A177-3AD203B41FA5}">
                      <a16:colId xmlns:a16="http://schemas.microsoft.com/office/drawing/2014/main" val="3807934092"/>
                    </a:ext>
                  </a:extLst>
                </a:gridCol>
              </a:tblGrid>
              <a:tr h="370840">
                <a:tc>
                  <a:txBody>
                    <a:bodyPr/>
                    <a:lstStyle/>
                    <a:p>
                      <a:pPr>
                        <a:buNone/>
                      </a:pPr>
                      <a:r>
                        <a:rPr lang="en-IN" sz="2000"/>
                        <a:t>RN</a:t>
                      </a:r>
                    </a:p>
                  </a:txBody>
                  <a:tcPr anchor="ctr"/>
                </a:tc>
                <a:tc>
                  <a:txBody>
                    <a:bodyPr/>
                    <a:lstStyle/>
                    <a:p>
                      <a:pPr>
                        <a:buNone/>
                      </a:pPr>
                      <a:r>
                        <a:rPr lang="en-IN" sz="2000"/>
                        <a:t>Description</a:t>
                      </a:r>
                    </a:p>
                  </a:txBody>
                  <a:tcPr anchor="ctr"/>
                </a:tc>
                <a:tc>
                  <a:txBody>
                    <a:bodyPr/>
                    <a:lstStyle/>
                    <a:p>
                      <a:pPr>
                        <a:buNone/>
                      </a:pPr>
                      <a:r>
                        <a:rPr lang="en-IN" sz="2000"/>
                        <a:t>Comment</a:t>
                      </a:r>
                    </a:p>
                  </a:txBody>
                  <a:tcPr anchor="ctr"/>
                </a:tc>
                <a:extLst>
                  <a:ext uri="{0D108BD9-81ED-4DB2-BD59-A6C34878D82A}">
                    <a16:rowId xmlns:a16="http://schemas.microsoft.com/office/drawing/2014/main" val="432181887"/>
                  </a:ext>
                </a:extLst>
              </a:tr>
              <a:tr h="370840">
                <a:tc>
                  <a:txBody>
                    <a:bodyPr/>
                    <a:lstStyle/>
                    <a:p>
                      <a:pPr>
                        <a:buNone/>
                      </a:pPr>
                      <a:r>
                        <a:rPr lang="en-IN" sz="2000" dirty="0"/>
                        <a:t>FR1</a:t>
                      </a:r>
                    </a:p>
                  </a:txBody>
                  <a:tcPr anchor="ctr"/>
                </a:tc>
                <a:tc>
                  <a:txBody>
                    <a:bodyPr/>
                    <a:lstStyle/>
                    <a:p>
                      <a:pPr>
                        <a:buNone/>
                      </a:pPr>
                      <a:r>
                        <a:rPr lang="en-US" sz="2000"/>
                        <a:t>Faculty shall be able to view the list of students.</a:t>
                      </a:r>
                    </a:p>
                  </a:txBody>
                  <a:tcPr anchor="ctr"/>
                </a:tc>
                <a:tc>
                  <a:txBody>
                    <a:bodyPr/>
                    <a:lstStyle/>
                    <a:p>
                      <a:pPr>
                        <a:buNone/>
                      </a:pPr>
                      <a:r>
                        <a:rPr lang="en-IN" sz="2000"/>
                        <a:t>View Students</a:t>
                      </a:r>
                    </a:p>
                  </a:txBody>
                  <a:tcPr anchor="ctr"/>
                </a:tc>
                <a:extLst>
                  <a:ext uri="{0D108BD9-81ED-4DB2-BD59-A6C34878D82A}">
                    <a16:rowId xmlns:a16="http://schemas.microsoft.com/office/drawing/2014/main" val="1516389548"/>
                  </a:ext>
                </a:extLst>
              </a:tr>
              <a:tr h="370840">
                <a:tc>
                  <a:txBody>
                    <a:bodyPr/>
                    <a:lstStyle/>
                    <a:p>
                      <a:pPr>
                        <a:buNone/>
                      </a:pPr>
                      <a:r>
                        <a:rPr lang="en-IN" sz="2000" dirty="0"/>
                        <a:t>FR2</a:t>
                      </a:r>
                    </a:p>
                  </a:txBody>
                  <a:tcPr anchor="ctr"/>
                </a:tc>
                <a:tc>
                  <a:txBody>
                    <a:bodyPr/>
                    <a:lstStyle/>
                    <a:p>
                      <a:pPr>
                        <a:buNone/>
                      </a:pPr>
                      <a:r>
                        <a:rPr lang="en-US" sz="2000"/>
                        <a:t>Faculty shall be able to view their assigned mentees.</a:t>
                      </a:r>
                    </a:p>
                  </a:txBody>
                  <a:tcPr anchor="ctr"/>
                </a:tc>
                <a:tc>
                  <a:txBody>
                    <a:bodyPr/>
                    <a:lstStyle/>
                    <a:p>
                      <a:pPr>
                        <a:buNone/>
                      </a:pPr>
                      <a:r>
                        <a:rPr lang="en-IN" sz="2000"/>
                        <a:t>View Mentees</a:t>
                      </a:r>
                    </a:p>
                  </a:txBody>
                  <a:tcPr anchor="ctr"/>
                </a:tc>
                <a:extLst>
                  <a:ext uri="{0D108BD9-81ED-4DB2-BD59-A6C34878D82A}">
                    <a16:rowId xmlns:a16="http://schemas.microsoft.com/office/drawing/2014/main" val="2512676066"/>
                  </a:ext>
                </a:extLst>
              </a:tr>
              <a:tr h="370840">
                <a:tc>
                  <a:txBody>
                    <a:bodyPr/>
                    <a:lstStyle/>
                    <a:p>
                      <a:pPr>
                        <a:buNone/>
                      </a:pPr>
                      <a:r>
                        <a:rPr lang="en-IN" sz="2000" dirty="0"/>
                        <a:t>FR3</a:t>
                      </a:r>
                    </a:p>
                  </a:txBody>
                  <a:tcPr anchor="ctr"/>
                </a:tc>
                <a:tc>
                  <a:txBody>
                    <a:bodyPr/>
                    <a:lstStyle/>
                    <a:p>
                      <a:pPr>
                        <a:buNone/>
                      </a:pPr>
                      <a:r>
                        <a:rPr lang="en-US" sz="2000"/>
                        <a:t>Faculty shall be able to communicate with students through mentorship chat.</a:t>
                      </a:r>
                    </a:p>
                  </a:txBody>
                  <a:tcPr anchor="ctr"/>
                </a:tc>
                <a:tc>
                  <a:txBody>
                    <a:bodyPr/>
                    <a:lstStyle/>
                    <a:p>
                      <a:pPr>
                        <a:buNone/>
                      </a:pPr>
                      <a:r>
                        <a:rPr lang="en-IN" sz="2000"/>
                        <a:t>Mentorship Chat</a:t>
                      </a:r>
                    </a:p>
                  </a:txBody>
                  <a:tcPr anchor="ctr"/>
                </a:tc>
                <a:extLst>
                  <a:ext uri="{0D108BD9-81ED-4DB2-BD59-A6C34878D82A}">
                    <a16:rowId xmlns:a16="http://schemas.microsoft.com/office/drawing/2014/main" val="393143535"/>
                  </a:ext>
                </a:extLst>
              </a:tr>
              <a:tr h="370840">
                <a:tc>
                  <a:txBody>
                    <a:bodyPr/>
                    <a:lstStyle/>
                    <a:p>
                      <a:pPr>
                        <a:buNone/>
                      </a:pPr>
                      <a:r>
                        <a:rPr lang="en-IN" sz="2000" dirty="0"/>
                        <a:t>FR4</a:t>
                      </a:r>
                    </a:p>
                  </a:txBody>
                  <a:tcPr anchor="ctr"/>
                </a:tc>
                <a:tc>
                  <a:txBody>
                    <a:bodyPr/>
                    <a:lstStyle/>
                    <a:p>
                      <a:pPr>
                        <a:buNone/>
                      </a:pPr>
                      <a:r>
                        <a:rPr lang="en-US" sz="2000"/>
                        <a:t>Faculty shall be able to mark student attendance.</a:t>
                      </a:r>
                    </a:p>
                  </a:txBody>
                  <a:tcPr anchor="ctr"/>
                </a:tc>
                <a:tc>
                  <a:txBody>
                    <a:bodyPr/>
                    <a:lstStyle/>
                    <a:p>
                      <a:pPr>
                        <a:buNone/>
                      </a:pPr>
                      <a:r>
                        <a:rPr lang="en-IN" sz="2000"/>
                        <a:t>Mark Attendance</a:t>
                      </a:r>
                    </a:p>
                  </a:txBody>
                  <a:tcPr anchor="ctr"/>
                </a:tc>
                <a:extLst>
                  <a:ext uri="{0D108BD9-81ED-4DB2-BD59-A6C34878D82A}">
                    <a16:rowId xmlns:a16="http://schemas.microsoft.com/office/drawing/2014/main" val="410646989"/>
                  </a:ext>
                </a:extLst>
              </a:tr>
              <a:tr h="370840">
                <a:tc>
                  <a:txBody>
                    <a:bodyPr/>
                    <a:lstStyle/>
                    <a:p>
                      <a:pPr>
                        <a:buNone/>
                      </a:pPr>
                      <a:r>
                        <a:rPr lang="en-IN" sz="2000" dirty="0"/>
                        <a:t>FR5</a:t>
                      </a:r>
                    </a:p>
                  </a:txBody>
                  <a:tcPr anchor="ctr"/>
                </a:tc>
                <a:tc>
                  <a:txBody>
                    <a:bodyPr/>
                    <a:lstStyle/>
                    <a:p>
                      <a:pPr>
                        <a:buNone/>
                      </a:pPr>
                      <a:r>
                        <a:rPr lang="en-US" sz="2000" dirty="0"/>
                        <a:t>Faculty shall be able to create assessments for subjects.</a:t>
                      </a:r>
                    </a:p>
                  </a:txBody>
                  <a:tcPr anchor="ctr"/>
                </a:tc>
                <a:tc>
                  <a:txBody>
                    <a:bodyPr/>
                    <a:lstStyle/>
                    <a:p>
                      <a:pPr>
                        <a:buNone/>
                      </a:pPr>
                      <a:r>
                        <a:rPr lang="en-IN" sz="2000"/>
                        <a:t>Create Assessment</a:t>
                      </a:r>
                    </a:p>
                  </a:txBody>
                  <a:tcPr anchor="ctr"/>
                </a:tc>
                <a:extLst>
                  <a:ext uri="{0D108BD9-81ED-4DB2-BD59-A6C34878D82A}">
                    <a16:rowId xmlns:a16="http://schemas.microsoft.com/office/drawing/2014/main" val="197748899"/>
                  </a:ext>
                </a:extLst>
              </a:tr>
              <a:tr h="370840">
                <a:tc>
                  <a:txBody>
                    <a:bodyPr/>
                    <a:lstStyle/>
                    <a:p>
                      <a:pPr>
                        <a:buNone/>
                      </a:pPr>
                      <a:r>
                        <a:rPr lang="en-IN" sz="2000" dirty="0"/>
                        <a:t>FR6</a:t>
                      </a:r>
                    </a:p>
                  </a:txBody>
                  <a:tcPr anchor="ctr"/>
                </a:tc>
                <a:tc>
                  <a:txBody>
                    <a:bodyPr/>
                    <a:lstStyle/>
                    <a:p>
                      <a:pPr>
                        <a:buNone/>
                      </a:pPr>
                      <a:r>
                        <a:rPr lang="en-US" sz="2000" dirty="0"/>
                        <a:t>Faculty shall be able to enter student marks for assessments.</a:t>
                      </a:r>
                    </a:p>
                  </a:txBody>
                  <a:tcPr anchor="ctr"/>
                </a:tc>
                <a:tc>
                  <a:txBody>
                    <a:bodyPr/>
                    <a:lstStyle/>
                    <a:p>
                      <a:pPr>
                        <a:buNone/>
                      </a:pPr>
                      <a:r>
                        <a:rPr lang="en-IN" sz="2000"/>
                        <a:t>Enter Marks</a:t>
                      </a:r>
                    </a:p>
                  </a:txBody>
                  <a:tcPr anchor="ctr"/>
                </a:tc>
                <a:extLst>
                  <a:ext uri="{0D108BD9-81ED-4DB2-BD59-A6C34878D82A}">
                    <a16:rowId xmlns:a16="http://schemas.microsoft.com/office/drawing/2014/main" val="2689166781"/>
                  </a:ext>
                </a:extLst>
              </a:tr>
              <a:tr h="370840">
                <a:tc>
                  <a:txBody>
                    <a:bodyPr/>
                    <a:lstStyle/>
                    <a:p>
                      <a:pPr>
                        <a:buNone/>
                      </a:pPr>
                      <a:r>
                        <a:rPr lang="en-IN" sz="2000" dirty="0"/>
                        <a:t>FR7</a:t>
                      </a:r>
                    </a:p>
                  </a:txBody>
                  <a:tcPr anchor="ctr"/>
                </a:tc>
                <a:tc>
                  <a:txBody>
                    <a:bodyPr/>
                    <a:lstStyle/>
                    <a:p>
                      <a:pPr>
                        <a:buNone/>
                      </a:pPr>
                      <a:r>
                        <a:rPr lang="en-US" sz="2000"/>
                        <a:t>Faculty shall be able to review academic requests submitted by students.</a:t>
                      </a:r>
                    </a:p>
                  </a:txBody>
                  <a:tcPr anchor="ctr"/>
                </a:tc>
                <a:tc>
                  <a:txBody>
                    <a:bodyPr/>
                    <a:lstStyle/>
                    <a:p>
                      <a:pPr>
                        <a:buNone/>
                      </a:pPr>
                      <a:r>
                        <a:rPr lang="en-IN" sz="2000"/>
                        <a:t>Review Student Request</a:t>
                      </a:r>
                    </a:p>
                  </a:txBody>
                  <a:tcPr anchor="ctr"/>
                </a:tc>
                <a:extLst>
                  <a:ext uri="{0D108BD9-81ED-4DB2-BD59-A6C34878D82A}">
                    <a16:rowId xmlns:a16="http://schemas.microsoft.com/office/drawing/2014/main" val="440908084"/>
                  </a:ext>
                </a:extLst>
              </a:tr>
              <a:tr h="370840">
                <a:tc>
                  <a:txBody>
                    <a:bodyPr/>
                    <a:lstStyle/>
                    <a:p>
                      <a:pPr>
                        <a:buNone/>
                      </a:pPr>
                      <a:r>
                        <a:rPr lang="en-IN" sz="2000" dirty="0"/>
                        <a:t>FR8</a:t>
                      </a:r>
                    </a:p>
                  </a:txBody>
                  <a:tcPr anchor="ctr"/>
                </a:tc>
                <a:tc>
                  <a:txBody>
                    <a:bodyPr/>
                    <a:lstStyle/>
                    <a:p>
                      <a:pPr>
                        <a:buNone/>
                      </a:pPr>
                      <a:r>
                        <a:rPr lang="en-US" sz="2000" dirty="0"/>
                        <a:t>Faculty shall be able to approve or reject student requests.</a:t>
                      </a:r>
                    </a:p>
                  </a:txBody>
                  <a:tcPr anchor="ctr"/>
                </a:tc>
                <a:tc>
                  <a:txBody>
                    <a:bodyPr/>
                    <a:lstStyle/>
                    <a:p>
                      <a:pPr>
                        <a:buNone/>
                      </a:pPr>
                      <a:r>
                        <a:rPr lang="en-IN" sz="2000" dirty="0"/>
                        <a:t>Approve / Reject Request</a:t>
                      </a:r>
                    </a:p>
                  </a:txBody>
                  <a:tcPr anchor="ctr"/>
                </a:tc>
                <a:extLst>
                  <a:ext uri="{0D108BD9-81ED-4DB2-BD59-A6C34878D82A}">
                    <a16:rowId xmlns:a16="http://schemas.microsoft.com/office/drawing/2014/main" val="2410806972"/>
                  </a:ext>
                </a:extLst>
              </a:tr>
            </a:tbl>
          </a:graphicData>
        </a:graphic>
      </p:graphicFrame>
      <p:sp>
        <p:nvSpPr>
          <p:cNvPr id="3" name="TextBox 2">
            <a:extLst>
              <a:ext uri="{FF2B5EF4-FFF2-40B4-BE49-F238E27FC236}">
                <a16:creationId xmlns:a16="http://schemas.microsoft.com/office/drawing/2014/main" id="{B047A0CC-0E68-7FE6-1426-0EA6FF6BC880}"/>
              </a:ext>
            </a:extLst>
          </p:cNvPr>
          <p:cNvSpPr txBox="1"/>
          <p:nvPr/>
        </p:nvSpPr>
        <p:spPr>
          <a:xfrm>
            <a:off x="546100" y="1527324"/>
            <a:ext cx="2155975" cy="461665"/>
          </a:xfrm>
          <a:prstGeom prst="rect">
            <a:avLst/>
          </a:prstGeom>
          <a:noFill/>
        </p:spPr>
        <p:txBody>
          <a:bodyPr wrap="none" rtlCol="0">
            <a:spAutoFit/>
          </a:bodyPr>
          <a:lstStyle/>
          <a:p>
            <a:r>
              <a:rPr lang="en-IN" sz="2400" b="1" dirty="0"/>
              <a:t>Faculty Module</a:t>
            </a:r>
          </a:p>
        </p:txBody>
      </p:sp>
    </p:spTree>
    <p:extLst>
      <p:ext uri="{BB962C8B-B14F-4D97-AF65-F5344CB8AC3E}">
        <p14:creationId xmlns:p14="http://schemas.microsoft.com/office/powerpoint/2010/main" val="30967083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126D87-50F7-102D-DF4A-00F56B2FF1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7D4511-D9E3-2771-81D8-E097919D4A6D}"/>
              </a:ext>
            </a:extLst>
          </p:cNvPr>
          <p:cNvSpPr>
            <a:spLocks noGrp="1"/>
          </p:cNvSpPr>
          <p:nvPr>
            <p:ph type="title"/>
          </p:nvPr>
        </p:nvSpPr>
        <p:spPr>
          <a:xfrm>
            <a:off x="1881808" y="365125"/>
            <a:ext cx="8428383" cy="1325563"/>
          </a:xfrm>
        </p:spPr>
        <p:txBody>
          <a:bodyPr>
            <a:normAutofit/>
          </a:bodyPr>
          <a:lstStyle/>
          <a:p>
            <a:pPr algn="ctr"/>
            <a:r>
              <a:rPr lang="en-GB" sz="3600" b="1" dirty="0">
                <a:latin typeface="Cambria" panose="02040503050406030204" pitchFamily="18" charset="0"/>
                <a:ea typeface="Cambria" panose="02040503050406030204" pitchFamily="18" charset="0"/>
              </a:rPr>
              <a:t>Functional Requirements </a:t>
            </a:r>
            <a:endParaRPr lang="en-US" sz="3600" b="1" dirty="0">
              <a:latin typeface="Cambria" panose="02040503050406030204" pitchFamily="18" charset="0"/>
              <a:ea typeface="Cambria" panose="02040503050406030204" pitchFamily="18" charset="0"/>
            </a:endParaRPr>
          </a:p>
        </p:txBody>
      </p:sp>
      <p:pic>
        <p:nvPicPr>
          <p:cNvPr id="4" name="Picture 3">
            <a:extLst>
              <a:ext uri="{FF2B5EF4-FFF2-40B4-BE49-F238E27FC236}">
                <a16:creationId xmlns:a16="http://schemas.microsoft.com/office/drawing/2014/main" id="{20AE31C0-0AE7-DD53-FB86-E20604D128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6456" y="-307975"/>
            <a:ext cx="3200400" cy="2133600"/>
          </a:xfrm>
          <a:prstGeom prst="rect">
            <a:avLst/>
          </a:prstGeom>
        </p:spPr>
      </p:pic>
      <p:pic>
        <p:nvPicPr>
          <p:cNvPr id="5" name="Picture 4">
            <a:extLst>
              <a:ext uri="{FF2B5EF4-FFF2-40B4-BE49-F238E27FC236}">
                <a16:creationId xmlns:a16="http://schemas.microsoft.com/office/drawing/2014/main" id="{F54A4DD6-88A4-E7CC-6526-20BC1302F5C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91800" y="0"/>
            <a:ext cx="1600200" cy="1600200"/>
          </a:xfrm>
          <a:prstGeom prst="rect">
            <a:avLst/>
          </a:prstGeom>
        </p:spPr>
      </p:pic>
      <p:graphicFrame>
        <p:nvGraphicFramePr>
          <p:cNvPr id="7" name="Content Placeholder 6">
            <a:extLst>
              <a:ext uri="{FF2B5EF4-FFF2-40B4-BE49-F238E27FC236}">
                <a16:creationId xmlns:a16="http://schemas.microsoft.com/office/drawing/2014/main" id="{54FFE7B2-276C-6085-6395-7D06EC3B6801}"/>
              </a:ext>
            </a:extLst>
          </p:cNvPr>
          <p:cNvGraphicFramePr>
            <a:graphicFrameLocks noGrp="1"/>
          </p:cNvGraphicFramePr>
          <p:nvPr>
            <p:ph idx="1"/>
            <p:extLst>
              <p:ext uri="{D42A27DB-BD31-4B8C-83A1-F6EECF244321}">
                <p14:modId xmlns:p14="http://schemas.microsoft.com/office/powerpoint/2010/main" val="616303432"/>
              </p:ext>
            </p:extLst>
          </p:nvPr>
        </p:nvGraphicFramePr>
        <p:xfrm>
          <a:off x="838200" y="2625725"/>
          <a:ext cx="10515597" cy="3688080"/>
        </p:xfrm>
        <a:graphic>
          <a:graphicData uri="http://schemas.openxmlformats.org/drawingml/2006/table">
            <a:tbl>
              <a:tblPr firstRow="1" bandRow="1">
                <a:tableStyleId>{5C22544A-7EE6-4342-B048-85BDC9FD1C3A}</a:tableStyleId>
              </a:tblPr>
              <a:tblGrid>
                <a:gridCol w="731808">
                  <a:extLst>
                    <a:ext uri="{9D8B030D-6E8A-4147-A177-3AD203B41FA5}">
                      <a16:colId xmlns:a16="http://schemas.microsoft.com/office/drawing/2014/main" val="2066105551"/>
                    </a:ext>
                  </a:extLst>
                </a:gridCol>
                <a:gridCol w="6278590">
                  <a:extLst>
                    <a:ext uri="{9D8B030D-6E8A-4147-A177-3AD203B41FA5}">
                      <a16:colId xmlns:a16="http://schemas.microsoft.com/office/drawing/2014/main" val="218909693"/>
                    </a:ext>
                  </a:extLst>
                </a:gridCol>
                <a:gridCol w="3505199">
                  <a:extLst>
                    <a:ext uri="{9D8B030D-6E8A-4147-A177-3AD203B41FA5}">
                      <a16:colId xmlns:a16="http://schemas.microsoft.com/office/drawing/2014/main" val="3807934092"/>
                    </a:ext>
                  </a:extLst>
                </a:gridCol>
              </a:tblGrid>
              <a:tr h="370840">
                <a:tc>
                  <a:txBody>
                    <a:bodyPr/>
                    <a:lstStyle/>
                    <a:p>
                      <a:pPr>
                        <a:buNone/>
                      </a:pPr>
                      <a:r>
                        <a:rPr lang="en-IN" sz="2000"/>
                        <a:t>RN</a:t>
                      </a:r>
                    </a:p>
                  </a:txBody>
                  <a:tcPr anchor="ctr"/>
                </a:tc>
                <a:tc>
                  <a:txBody>
                    <a:bodyPr/>
                    <a:lstStyle/>
                    <a:p>
                      <a:pPr>
                        <a:buNone/>
                      </a:pPr>
                      <a:r>
                        <a:rPr lang="en-IN" sz="2000" dirty="0"/>
                        <a:t>Description</a:t>
                      </a:r>
                    </a:p>
                  </a:txBody>
                  <a:tcPr anchor="ctr"/>
                </a:tc>
                <a:tc>
                  <a:txBody>
                    <a:bodyPr/>
                    <a:lstStyle/>
                    <a:p>
                      <a:pPr>
                        <a:buNone/>
                      </a:pPr>
                      <a:r>
                        <a:rPr lang="en-IN" sz="2000"/>
                        <a:t>Comment</a:t>
                      </a:r>
                    </a:p>
                  </a:txBody>
                  <a:tcPr anchor="ctr"/>
                </a:tc>
                <a:extLst>
                  <a:ext uri="{0D108BD9-81ED-4DB2-BD59-A6C34878D82A}">
                    <a16:rowId xmlns:a16="http://schemas.microsoft.com/office/drawing/2014/main" val="432181887"/>
                  </a:ext>
                </a:extLst>
              </a:tr>
              <a:tr h="370840">
                <a:tc>
                  <a:txBody>
                    <a:bodyPr/>
                    <a:lstStyle/>
                    <a:p>
                      <a:pPr>
                        <a:buNone/>
                      </a:pPr>
                      <a:r>
                        <a:rPr lang="en-IN" sz="2000" dirty="0"/>
                        <a:t>FR1</a:t>
                      </a:r>
                    </a:p>
                  </a:txBody>
                  <a:tcPr anchor="ctr"/>
                </a:tc>
                <a:tc>
                  <a:txBody>
                    <a:bodyPr/>
                    <a:lstStyle/>
                    <a:p>
                      <a:pPr>
                        <a:buNone/>
                      </a:pPr>
                      <a:r>
                        <a:rPr lang="en-US" sz="2000"/>
                        <a:t>Students shall be able to view their attendance records.</a:t>
                      </a:r>
                    </a:p>
                  </a:txBody>
                  <a:tcPr anchor="ctr"/>
                </a:tc>
                <a:tc>
                  <a:txBody>
                    <a:bodyPr/>
                    <a:lstStyle/>
                    <a:p>
                      <a:pPr>
                        <a:buNone/>
                      </a:pPr>
                      <a:r>
                        <a:rPr lang="en-IN" sz="2000"/>
                        <a:t>View Attendance</a:t>
                      </a:r>
                    </a:p>
                  </a:txBody>
                  <a:tcPr anchor="ctr"/>
                </a:tc>
                <a:extLst>
                  <a:ext uri="{0D108BD9-81ED-4DB2-BD59-A6C34878D82A}">
                    <a16:rowId xmlns:a16="http://schemas.microsoft.com/office/drawing/2014/main" val="1516389548"/>
                  </a:ext>
                </a:extLst>
              </a:tr>
              <a:tr h="370840">
                <a:tc>
                  <a:txBody>
                    <a:bodyPr/>
                    <a:lstStyle/>
                    <a:p>
                      <a:pPr>
                        <a:buNone/>
                      </a:pPr>
                      <a:r>
                        <a:rPr lang="en-IN" sz="2000" dirty="0"/>
                        <a:t>FR2</a:t>
                      </a:r>
                    </a:p>
                  </a:txBody>
                  <a:tcPr anchor="ctr"/>
                </a:tc>
                <a:tc>
                  <a:txBody>
                    <a:bodyPr/>
                    <a:lstStyle/>
                    <a:p>
                      <a:pPr>
                        <a:buNone/>
                      </a:pPr>
                      <a:r>
                        <a:rPr lang="en-US" sz="2000" dirty="0"/>
                        <a:t>Students shall be able to view their assessment marks.</a:t>
                      </a:r>
                    </a:p>
                  </a:txBody>
                  <a:tcPr anchor="ctr"/>
                </a:tc>
                <a:tc>
                  <a:txBody>
                    <a:bodyPr/>
                    <a:lstStyle/>
                    <a:p>
                      <a:pPr>
                        <a:buNone/>
                      </a:pPr>
                      <a:r>
                        <a:rPr lang="en-IN" sz="2000"/>
                        <a:t>View Assessment Marks</a:t>
                      </a:r>
                    </a:p>
                  </a:txBody>
                  <a:tcPr anchor="ctr"/>
                </a:tc>
                <a:extLst>
                  <a:ext uri="{0D108BD9-81ED-4DB2-BD59-A6C34878D82A}">
                    <a16:rowId xmlns:a16="http://schemas.microsoft.com/office/drawing/2014/main" val="2512676066"/>
                  </a:ext>
                </a:extLst>
              </a:tr>
              <a:tr h="370840">
                <a:tc>
                  <a:txBody>
                    <a:bodyPr/>
                    <a:lstStyle/>
                    <a:p>
                      <a:pPr>
                        <a:buNone/>
                      </a:pPr>
                      <a:r>
                        <a:rPr lang="en-IN" sz="2000" dirty="0"/>
                        <a:t>FR3</a:t>
                      </a:r>
                    </a:p>
                  </a:txBody>
                  <a:tcPr anchor="ctr"/>
                </a:tc>
                <a:tc>
                  <a:txBody>
                    <a:bodyPr/>
                    <a:lstStyle/>
                    <a:p>
                      <a:pPr>
                        <a:buNone/>
                      </a:pPr>
                      <a:r>
                        <a:rPr lang="en-US" sz="2000"/>
                        <a:t>Students shall be able to submit academic requests to faculty.</a:t>
                      </a:r>
                    </a:p>
                  </a:txBody>
                  <a:tcPr anchor="ctr"/>
                </a:tc>
                <a:tc>
                  <a:txBody>
                    <a:bodyPr/>
                    <a:lstStyle/>
                    <a:p>
                      <a:pPr>
                        <a:buNone/>
                      </a:pPr>
                      <a:r>
                        <a:rPr lang="en-IN" sz="2000"/>
                        <a:t>Submit Academic Request</a:t>
                      </a:r>
                    </a:p>
                  </a:txBody>
                  <a:tcPr anchor="ctr"/>
                </a:tc>
                <a:extLst>
                  <a:ext uri="{0D108BD9-81ED-4DB2-BD59-A6C34878D82A}">
                    <a16:rowId xmlns:a16="http://schemas.microsoft.com/office/drawing/2014/main" val="393143535"/>
                  </a:ext>
                </a:extLst>
              </a:tr>
              <a:tr h="370840">
                <a:tc>
                  <a:txBody>
                    <a:bodyPr/>
                    <a:lstStyle/>
                    <a:p>
                      <a:pPr>
                        <a:buNone/>
                      </a:pPr>
                      <a:r>
                        <a:rPr lang="en-IN" sz="2000" dirty="0"/>
                        <a:t>FR4</a:t>
                      </a:r>
                    </a:p>
                  </a:txBody>
                  <a:tcPr anchor="ctr"/>
                </a:tc>
                <a:tc>
                  <a:txBody>
                    <a:bodyPr/>
                    <a:lstStyle/>
                    <a:p>
                      <a:pPr>
                        <a:buNone/>
                      </a:pPr>
                      <a:r>
                        <a:rPr lang="en-US" sz="2000"/>
                        <a:t>Students shall be able to check the status of submitted requests.</a:t>
                      </a:r>
                    </a:p>
                  </a:txBody>
                  <a:tcPr anchor="ctr"/>
                </a:tc>
                <a:tc>
                  <a:txBody>
                    <a:bodyPr/>
                    <a:lstStyle/>
                    <a:p>
                      <a:pPr>
                        <a:buNone/>
                      </a:pPr>
                      <a:r>
                        <a:rPr lang="en-IN" sz="2000"/>
                        <a:t>View Request Status</a:t>
                      </a:r>
                    </a:p>
                  </a:txBody>
                  <a:tcPr anchor="ctr"/>
                </a:tc>
                <a:extLst>
                  <a:ext uri="{0D108BD9-81ED-4DB2-BD59-A6C34878D82A}">
                    <a16:rowId xmlns:a16="http://schemas.microsoft.com/office/drawing/2014/main" val="410646989"/>
                  </a:ext>
                </a:extLst>
              </a:tr>
              <a:tr h="370840">
                <a:tc>
                  <a:txBody>
                    <a:bodyPr/>
                    <a:lstStyle/>
                    <a:p>
                      <a:pPr>
                        <a:buNone/>
                      </a:pPr>
                      <a:r>
                        <a:rPr lang="en-IN" sz="2000" dirty="0"/>
                        <a:t>FR5</a:t>
                      </a:r>
                    </a:p>
                  </a:txBody>
                  <a:tcPr anchor="ctr"/>
                </a:tc>
                <a:tc>
                  <a:txBody>
                    <a:bodyPr/>
                    <a:lstStyle/>
                    <a:p>
                      <a:pPr>
                        <a:buNone/>
                      </a:pPr>
                      <a:r>
                        <a:rPr lang="en-US" sz="2000"/>
                        <a:t>Students shall be able to view their assigned mentor.</a:t>
                      </a:r>
                    </a:p>
                  </a:txBody>
                  <a:tcPr anchor="ctr"/>
                </a:tc>
                <a:tc>
                  <a:txBody>
                    <a:bodyPr/>
                    <a:lstStyle/>
                    <a:p>
                      <a:pPr>
                        <a:buNone/>
                      </a:pPr>
                      <a:r>
                        <a:rPr lang="en-IN" sz="2000"/>
                        <a:t>View Assigned Mentor</a:t>
                      </a:r>
                    </a:p>
                  </a:txBody>
                  <a:tcPr anchor="ctr"/>
                </a:tc>
                <a:extLst>
                  <a:ext uri="{0D108BD9-81ED-4DB2-BD59-A6C34878D82A}">
                    <a16:rowId xmlns:a16="http://schemas.microsoft.com/office/drawing/2014/main" val="197748899"/>
                  </a:ext>
                </a:extLst>
              </a:tr>
              <a:tr h="370840">
                <a:tc>
                  <a:txBody>
                    <a:bodyPr/>
                    <a:lstStyle/>
                    <a:p>
                      <a:pPr>
                        <a:buNone/>
                      </a:pPr>
                      <a:r>
                        <a:rPr lang="en-IN" sz="2000" dirty="0"/>
                        <a:t>FR6</a:t>
                      </a:r>
                    </a:p>
                  </a:txBody>
                  <a:tcPr anchor="ctr"/>
                </a:tc>
                <a:tc>
                  <a:txBody>
                    <a:bodyPr/>
                    <a:lstStyle/>
                    <a:p>
                      <a:pPr>
                        <a:buNone/>
                      </a:pPr>
                      <a:r>
                        <a:rPr lang="en-US" sz="2000" dirty="0"/>
                        <a:t>Students shall be able to communicate with their mentor through chat.</a:t>
                      </a:r>
                    </a:p>
                  </a:txBody>
                  <a:tcPr anchor="ctr"/>
                </a:tc>
                <a:tc>
                  <a:txBody>
                    <a:bodyPr/>
                    <a:lstStyle/>
                    <a:p>
                      <a:pPr>
                        <a:buNone/>
                      </a:pPr>
                      <a:r>
                        <a:rPr lang="en-IN" sz="2000" dirty="0"/>
                        <a:t>Mentorship Chat</a:t>
                      </a:r>
                    </a:p>
                  </a:txBody>
                  <a:tcPr anchor="ctr"/>
                </a:tc>
                <a:extLst>
                  <a:ext uri="{0D108BD9-81ED-4DB2-BD59-A6C34878D82A}">
                    <a16:rowId xmlns:a16="http://schemas.microsoft.com/office/drawing/2014/main" val="2689166781"/>
                  </a:ext>
                </a:extLst>
              </a:tr>
            </a:tbl>
          </a:graphicData>
        </a:graphic>
      </p:graphicFrame>
      <p:sp>
        <p:nvSpPr>
          <p:cNvPr id="3" name="TextBox 2">
            <a:extLst>
              <a:ext uri="{FF2B5EF4-FFF2-40B4-BE49-F238E27FC236}">
                <a16:creationId xmlns:a16="http://schemas.microsoft.com/office/drawing/2014/main" id="{B548E4B2-8ADC-9142-E5AD-530953B0AE64}"/>
              </a:ext>
            </a:extLst>
          </p:cNvPr>
          <p:cNvSpPr txBox="1"/>
          <p:nvPr/>
        </p:nvSpPr>
        <p:spPr>
          <a:xfrm>
            <a:off x="546100" y="1527324"/>
            <a:ext cx="2257669" cy="461665"/>
          </a:xfrm>
          <a:prstGeom prst="rect">
            <a:avLst/>
          </a:prstGeom>
          <a:noFill/>
        </p:spPr>
        <p:txBody>
          <a:bodyPr wrap="none" rtlCol="0">
            <a:spAutoFit/>
          </a:bodyPr>
          <a:lstStyle/>
          <a:p>
            <a:r>
              <a:rPr lang="en-IN" sz="2400" b="1" dirty="0"/>
              <a:t>Student Module</a:t>
            </a:r>
          </a:p>
        </p:txBody>
      </p:sp>
    </p:spTree>
    <p:extLst>
      <p:ext uri="{BB962C8B-B14F-4D97-AF65-F5344CB8AC3E}">
        <p14:creationId xmlns:p14="http://schemas.microsoft.com/office/powerpoint/2010/main" val="26565848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EE3933-7716-59C8-ACFF-275E28DCCC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4998BA-4907-BDBA-7DC4-4730C66E4A0C}"/>
              </a:ext>
            </a:extLst>
          </p:cNvPr>
          <p:cNvSpPr>
            <a:spLocks noGrp="1"/>
          </p:cNvSpPr>
          <p:nvPr>
            <p:ph type="title"/>
          </p:nvPr>
        </p:nvSpPr>
        <p:spPr>
          <a:xfrm>
            <a:off x="1881808" y="365125"/>
            <a:ext cx="8428383" cy="1325563"/>
          </a:xfrm>
        </p:spPr>
        <p:txBody>
          <a:bodyPr>
            <a:normAutofit/>
          </a:bodyPr>
          <a:lstStyle/>
          <a:p>
            <a:pPr algn="ctr"/>
            <a:r>
              <a:rPr lang="en-GB" sz="3600" b="1" dirty="0">
                <a:latin typeface="Cambria" panose="02040503050406030204" pitchFamily="18" charset="0"/>
                <a:ea typeface="Cambria" panose="02040503050406030204" pitchFamily="18" charset="0"/>
              </a:rPr>
              <a:t>Non - Functional Requirements </a:t>
            </a:r>
            <a:endParaRPr lang="en-US" sz="3600" b="1" dirty="0">
              <a:latin typeface="Cambria" panose="02040503050406030204" pitchFamily="18" charset="0"/>
              <a:ea typeface="Cambria" panose="02040503050406030204" pitchFamily="18" charset="0"/>
            </a:endParaRPr>
          </a:p>
        </p:txBody>
      </p:sp>
      <p:pic>
        <p:nvPicPr>
          <p:cNvPr id="4" name="Picture 3">
            <a:extLst>
              <a:ext uri="{FF2B5EF4-FFF2-40B4-BE49-F238E27FC236}">
                <a16:creationId xmlns:a16="http://schemas.microsoft.com/office/drawing/2014/main" id="{DEC2D84C-26B0-9A01-C6B3-A07170F47EC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6456" y="-307975"/>
            <a:ext cx="3200400" cy="2133600"/>
          </a:xfrm>
          <a:prstGeom prst="rect">
            <a:avLst/>
          </a:prstGeom>
        </p:spPr>
      </p:pic>
      <p:pic>
        <p:nvPicPr>
          <p:cNvPr id="5" name="Picture 4">
            <a:extLst>
              <a:ext uri="{FF2B5EF4-FFF2-40B4-BE49-F238E27FC236}">
                <a16:creationId xmlns:a16="http://schemas.microsoft.com/office/drawing/2014/main" id="{B9C5D077-3674-2C60-EE6D-2530176E3F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91800" y="0"/>
            <a:ext cx="1600200" cy="1600200"/>
          </a:xfrm>
          <a:prstGeom prst="rect">
            <a:avLst/>
          </a:prstGeom>
        </p:spPr>
      </p:pic>
      <p:graphicFrame>
        <p:nvGraphicFramePr>
          <p:cNvPr id="8" name="Content Placeholder 7">
            <a:extLst>
              <a:ext uri="{FF2B5EF4-FFF2-40B4-BE49-F238E27FC236}">
                <a16:creationId xmlns:a16="http://schemas.microsoft.com/office/drawing/2014/main" id="{5404155C-0BDB-D9A6-FD7C-21189939085B}"/>
              </a:ext>
            </a:extLst>
          </p:cNvPr>
          <p:cNvGraphicFramePr>
            <a:graphicFrameLocks noGrp="1"/>
          </p:cNvGraphicFramePr>
          <p:nvPr>
            <p:ph idx="1"/>
            <p:extLst>
              <p:ext uri="{D42A27DB-BD31-4B8C-83A1-F6EECF244321}">
                <p14:modId xmlns:p14="http://schemas.microsoft.com/office/powerpoint/2010/main" val="2504559971"/>
              </p:ext>
            </p:extLst>
          </p:nvPr>
        </p:nvGraphicFramePr>
        <p:xfrm>
          <a:off x="838200" y="2255611"/>
          <a:ext cx="10515597" cy="3200400"/>
        </p:xfrm>
        <a:graphic>
          <a:graphicData uri="http://schemas.openxmlformats.org/drawingml/2006/table">
            <a:tbl>
              <a:tblPr firstRow="1" bandRow="1">
                <a:tableStyleId>{5C22544A-7EE6-4342-B048-85BDC9FD1C3A}</a:tableStyleId>
              </a:tblPr>
              <a:tblGrid>
                <a:gridCol w="990600">
                  <a:extLst>
                    <a:ext uri="{9D8B030D-6E8A-4147-A177-3AD203B41FA5}">
                      <a16:colId xmlns:a16="http://schemas.microsoft.com/office/drawing/2014/main" val="1121675786"/>
                    </a:ext>
                  </a:extLst>
                </a:gridCol>
                <a:gridCol w="6019798">
                  <a:extLst>
                    <a:ext uri="{9D8B030D-6E8A-4147-A177-3AD203B41FA5}">
                      <a16:colId xmlns:a16="http://schemas.microsoft.com/office/drawing/2014/main" val="1207895579"/>
                    </a:ext>
                  </a:extLst>
                </a:gridCol>
                <a:gridCol w="3505199">
                  <a:extLst>
                    <a:ext uri="{9D8B030D-6E8A-4147-A177-3AD203B41FA5}">
                      <a16:colId xmlns:a16="http://schemas.microsoft.com/office/drawing/2014/main" val="3613198466"/>
                    </a:ext>
                  </a:extLst>
                </a:gridCol>
              </a:tblGrid>
              <a:tr h="370840">
                <a:tc>
                  <a:txBody>
                    <a:bodyPr/>
                    <a:lstStyle/>
                    <a:p>
                      <a:pPr>
                        <a:buNone/>
                      </a:pPr>
                      <a:r>
                        <a:rPr lang="en-IN" sz="2000"/>
                        <a:t>RN</a:t>
                      </a:r>
                    </a:p>
                  </a:txBody>
                  <a:tcPr anchor="ctr"/>
                </a:tc>
                <a:tc>
                  <a:txBody>
                    <a:bodyPr/>
                    <a:lstStyle/>
                    <a:p>
                      <a:pPr>
                        <a:buNone/>
                      </a:pPr>
                      <a:r>
                        <a:rPr lang="en-IN" sz="2000"/>
                        <a:t>Description</a:t>
                      </a:r>
                    </a:p>
                  </a:txBody>
                  <a:tcPr anchor="ctr"/>
                </a:tc>
                <a:tc>
                  <a:txBody>
                    <a:bodyPr/>
                    <a:lstStyle/>
                    <a:p>
                      <a:pPr>
                        <a:buNone/>
                      </a:pPr>
                      <a:r>
                        <a:rPr lang="en-IN" sz="2000"/>
                        <a:t>Comment</a:t>
                      </a:r>
                    </a:p>
                  </a:txBody>
                  <a:tcPr anchor="ctr"/>
                </a:tc>
                <a:extLst>
                  <a:ext uri="{0D108BD9-81ED-4DB2-BD59-A6C34878D82A}">
                    <a16:rowId xmlns:a16="http://schemas.microsoft.com/office/drawing/2014/main" val="3584578918"/>
                  </a:ext>
                </a:extLst>
              </a:tr>
              <a:tr h="370840">
                <a:tc>
                  <a:txBody>
                    <a:bodyPr/>
                    <a:lstStyle/>
                    <a:p>
                      <a:pPr>
                        <a:buNone/>
                      </a:pPr>
                      <a:r>
                        <a:rPr lang="en-IN" sz="2000"/>
                        <a:t>NFR1</a:t>
                      </a:r>
                    </a:p>
                  </a:txBody>
                  <a:tcPr anchor="ctr"/>
                </a:tc>
                <a:tc>
                  <a:txBody>
                    <a:bodyPr/>
                    <a:lstStyle/>
                    <a:p>
                      <a:pPr>
                        <a:buNone/>
                      </a:pPr>
                      <a:r>
                        <a:rPr lang="en-US" sz="2000"/>
                        <a:t>The system shall support multiple users accessing the system at the same time without performance issues.</a:t>
                      </a:r>
                    </a:p>
                  </a:txBody>
                  <a:tcPr anchor="ctr"/>
                </a:tc>
                <a:tc>
                  <a:txBody>
                    <a:bodyPr/>
                    <a:lstStyle/>
                    <a:p>
                      <a:pPr>
                        <a:buNone/>
                      </a:pPr>
                      <a:r>
                        <a:rPr lang="en-IN" sz="2000"/>
                        <a:t>Performance</a:t>
                      </a:r>
                    </a:p>
                  </a:txBody>
                  <a:tcPr anchor="ctr"/>
                </a:tc>
                <a:extLst>
                  <a:ext uri="{0D108BD9-81ED-4DB2-BD59-A6C34878D82A}">
                    <a16:rowId xmlns:a16="http://schemas.microsoft.com/office/drawing/2014/main" val="1292803442"/>
                  </a:ext>
                </a:extLst>
              </a:tr>
              <a:tr h="370840">
                <a:tc>
                  <a:txBody>
                    <a:bodyPr/>
                    <a:lstStyle/>
                    <a:p>
                      <a:pPr>
                        <a:buNone/>
                      </a:pPr>
                      <a:r>
                        <a:rPr lang="en-IN" sz="2000"/>
                        <a:t>NFR2</a:t>
                      </a:r>
                    </a:p>
                  </a:txBody>
                  <a:tcPr anchor="ctr"/>
                </a:tc>
                <a:tc>
                  <a:txBody>
                    <a:bodyPr/>
                    <a:lstStyle/>
                    <a:p>
                      <a:pPr>
                        <a:buNone/>
                      </a:pPr>
                      <a:r>
                        <a:rPr lang="en-US" sz="2000"/>
                        <a:t>The system shall ensure secure authentication using encrypted passwords and role-based access control.</a:t>
                      </a:r>
                    </a:p>
                  </a:txBody>
                  <a:tcPr anchor="ctr"/>
                </a:tc>
                <a:tc>
                  <a:txBody>
                    <a:bodyPr/>
                    <a:lstStyle/>
                    <a:p>
                      <a:pPr>
                        <a:buNone/>
                      </a:pPr>
                      <a:r>
                        <a:rPr lang="en-IN" sz="2000"/>
                        <a:t>Security</a:t>
                      </a:r>
                    </a:p>
                  </a:txBody>
                  <a:tcPr anchor="ctr"/>
                </a:tc>
                <a:extLst>
                  <a:ext uri="{0D108BD9-81ED-4DB2-BD59-A6C34878D82A}">
                    <a16:rowId xmlns:a16="http://schemas.microsoft.com/office/drawing/2014/main" val="2826123115"/>
                  </a:ext>
                </a:extLst>
              </a:tr>
              <a:tr h="370840">
                <a:tc>
                  <a:txBody>
                    <a:bodyPr/>
                    <a:lstStyle/>
                    <a:p>
                      <a:pPr>
                        <a:buNone/>
                      </a:pPr>
                      <a:r>
                        <a:rPr lang="en-IN" sz="2000"/>
                        <a:t>NFR3</a:t>
                      </a:r>
                    </a:p>
                  </a:txBody>
                  <a:tcPr anchor="ctr"/>
                </a:tc>
                <a:tc>
                  <a:txBody>
                    <a:bodyPr/>
                    <a:lstStyle/>
                    <a:p>
                      <a:pPr>
                        <a:buNone/>
                      </a:pPr>
                      <a:r>
                        <a:rPr lang="en-US" sz="2000"/>
                        <a:t>The system interface shall be simple and easy to use for students, faculty, and administrators.</a:t>
                      </a:r>
                    </a:p>
                  </a:txBody>
                  <a:tcPr anchor="ctr"/>
                </a:tc>
                <a:tc>
                  <a:txBody>
                    <a:bodyPr/>
                    <a:lstStyle/>
                    <a:p>
                      <a:pPr>
                        <a:buNone/>
                      </a:pPr>
                      <a:r>
                        <a:rPr lang="en-IN" sz="2000"/>
                        <a:t>Usability</a:t>
                      </a:r>
                    </a:p>
                  </a:txBody>
                  <a:tcPr anchor="ctr"/>
                </a:tc>
                <a:extLst>
                  <a:ext uri="{0D108BD9-81ED-4DB2-BD59-A6C34878D82A}">
                    <a16:rowId xmlns:a16="http://schemas.microsoft.com/office/drawing/2014/main" val="2727667468"/>
                  </a:ext>
                </a:extLst>
              </a:tr>
              <a:tr h="370840">
                <a:tc>
                  <a:txBody>
                    <a:bodyPr/>
                    <a:lstStyle/>
                    <a:p>
                      <a:pPr>
                        <a:buNone/>
                      </a:pPr>
                      <a:r>
                        <a:rPr lang="en-IN" sz="2000" dirty="0"/>
                        <a:t>NFR4</a:t>
                      </a:r>
                    </a:p>
                  </a:txBody>
                  <a:tcPr anchor="ctr"/>
                </a:tc>
                <a:tc>
                  <a:txBody>
                    <a:bodyPr/>
                    <a:lstStyle/>
                    <a:p>
                      <a:pPr>
                        <a:buNone/>
                      </a:pPr>
                      <a:r>
                        <a:rPr lang="en-US" sz="2000" dirty="0"/>
                        <a:t>The system shall allow easy maintenance and updates without affecting existing functionality.</a:t>
                      </a:r>
                    </a:p>
                  </a:txBody>
                  <a:tcPr anchor="ctr"/>
                </a:tc>
                <a:tc>
                  <a:txBody>
                    <a:bodyPr/>
                    <a:lstStyle/>
                    <a:p>
                      <a:pPr>
                        <a:buNone/>
                      </a:pPr>
                      <a:r>
                        <a:rPr lang="en-IN" sz="2000" dirty="0"/>
                        <a:t>Maintainability</a:t>
                      </a:r>
                    </a:p>
                  </a:txBody>
                  <a:tcPr anchor="ctr"/>
                </a:tc>
                <a:extLst>
                  <a:ext uri="{0D108BD9-81ED-4DB2-BD59-A6C34878D82A}">
                    <a16:rowId xmlns:a16="http://schemas.microsoft.com/office/drawing/2014/main" val="690572791"/>
                  </a:ext>
                </a:extLst>
              </a:tr>
            </a:tbl>
          </a:graphicData>
        </a:graphic>
      </p:graphicFrame>
    </p:spTree>
    <p:extLst>
      <p:ext uri="{BB962C8B-B14F-4D97-AF65-F5344CB8AC3E}">
        <p14:creationId xmlns:p14="http://schemas.microsoft.com/office/powerpoint/2010/main" val="33369362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AB66F2-7410-F23D-67AE-71CD5C7390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DD47A2-11DF-DB87-D5EA-BAD4EEC75880}"/>
              </a:ext>
            </a:extLst>
          </p:cNvPr>
          <p:cNvSpPr>
            <a:spLocks noGrp="1"/>
          </p:cNvSpPr>
          <p:nvPr>
            <p:ph type="title"/>
          </p:nvPr>
        </p:nvSpPr>
        <p:spPr>
          <a:xfrm>
            <a:off x="1881808" y="365125"/>
            <a:ext cx="8428383" cy="1325563"/>
          </a:xfrm>
        </p:spPr>
        <p:txBody>
          <a:bodyPr>
            <a:normAutofit/>
          </a:bodyPr>
          <a:lstStyle/>
          <a:p>
            <a:pPr algn="ctr"/>
            <a:r>
              <a:rPr lang="en-US" sz="3600" b="1" dirty="0">
                <a:latin typeface="Cambria" panose="02040503050406030204" pitchFamily="18" charset="0"/>
                <a:ea typeface="Cambria" panose="02040503050406030204" pitchFamily="18" charset="0"/>
              </a:rPr>
              <a:t>Diagrams</a:t>
            </a:r>
          </a:p>
        </p:txBody>
      </p:sp>
      <p:pic>
        <p:nvPicPr>
          <p:cNvPr id="4" name="Picture 3">
            <a:extLst>
              <a:ext uri="{FF2B5EF4-FFF2-40B4-BE49-F238E27FC236}">
                <a16:creationId xmlns:a16="http://schemas.microsoft.com/office/drawing/2014/main" id="{00396D33-7CEE-FEE2-865E-EB95141B992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6456" y="-307975"/>
            <a:ext cx="3200400" cy="2133600"/>
          </a:xfrm>
          <a:prstGeom prst="rect">
            <a:avLst/>
          </a:prstGeom>
        </p:spPr>
      </p:pic>
      <p:pic>
        <p:nvPicPr>
          <p:cNvPr id="5" name="Picture 4">
            <a:extLst>
              <a:ext uri="{FF2B5EF4-FFF2-40B4-BE49-F238E27FC236}">
                <a16:creationId xmlns:a16="http://schemas.microsoft.com/office/drawing/2014/main" id="{0ED410FB-2A8D-C4A8-8DA0-645EF05AA65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91800" y="0"/>
            <a:ext cx="1600200" cy="1600200"/>
          </a:xfrm>
          <a:prstGeom prst="rect">
            <a:avLst/>
          </a:prstGeom>
        </p:spPr>
      </p:pic>
      <p:sp>
        <p:nvSpPr>
          <p:cNvPr id="6" name="Content Placeholder 5">
            <a:extLst>
              <a:ext uri="{FF2B5EF4-FFF2-40B4-BE49-F238E27FC236}">
                <a16:creationId xmlns:a16="http://schemas.microsoft.com/office/drawing/2014/main" id="{D197C84D-3091-D3D9-E2CC-26AECA70C38B}"/>
              </a:ext>
            </a:extLst>
          </p:cNvPr>
          <p:cNvSpPr>
            <a:spLocks noGrp="1"/>
          </p:cNvSpPr>
          <p:nvPr>
            <p:ph idx="1"/>
          </p:nvPr>
        </p:nvSpPr>
        <p:spPr>
          <a:xfrm>
            <a:off x="838199" y="1825625"/>
            <a:ext cx="10515600" cy="4667250"/>
          </a:xfrm>
        </p:spPr>
        <p:txBody>
          <a:bodyPr>
            <a:normAutofit/>
          </a:bodyPr>
          <a:lstStyle/>
          <a:p>
            <a:r>
              <a:rPr lang="en-US" dirty="0">
                <a:hlinkClick r:id="rId4" action="ppaction://hlinkfile"/>
              </a:rPr>
              <a:t>Use Case Diagram</a:t>
            </a:r>
            <a:endParaRPr lang="en-US" dirty="0"/>
          </a:p>
          <a:p>
            <a:r>
              <a:rPr lang="en-US" dirty="0">
                <a:hlinkClick r:id="rId5" action="ppaction://hlinkfile"/>
              </a:rPr>
              <a:t>Log in Activity Diagram</a:t>
            </a:r>
            <a:endParaRPr lang="en-US" dirty="0"/>
          </a:p>
          <a:p>
            <a:r>
              <a:rPr lang="en-US" dirty="0">
                <a:hlinkClick r:id="rId6" action="ppaction://hlinkfile"/>
              </a:rPr>
              <a:t>Admin Initialization Activity Diagram</a:t>
            </a:r>
            <a:endParaRPr lang="en-US" dirty="0"/>
          </a:p>
          <a:p>
            <a:r>
              <a:rPr lang="en-US" dirty="0">
                <a:hlinkClick r:id="rId7" action="ppaction://hlinkfile"/>
              </a:rPr>
              <a:t>User Registration Activity Diagram </a:t>
            </a:r>
            <a:endParaRPr lang="en-US" dirty="0"/>
          </a:p>
          <a:p>
            <a:r>
              <a:rPr lang="en-IN" dirty="0">
                <a:hlinkClick r:id="rId8" action="ppaction://hlinkfile"/>
              </a:rPr>
              <a:t>Attendance Management Diagram</a:t>
            </a:r>
            <a:endParaRPr lang="en-IN" dirty="0"/>
          </a:p>
          <a:p>
            <a:r>
              <a:rPr lang="en-IN" dirty="0">
                <a:hlinkClick r:id="rId9" action="ppaction://hlinkfile"/>
              </a:rPr>
              <a:t>Assessment / Marks Entry Diagram</a:t>
            </a:r>
            <a:endParaRPr lang="en-US" dirty="0"/>
          </a:p>
          <a:p>
            <a:r>
              <a:rPr lang="en-IN" dirty="0">
                <a:hlinkClick r:id="rId10" action="ppaction://hlinkfile"/>
              </a:rPr>
              <a:t>Admin dashboard activity diagram</a:t>
            </a:r>
            <a:endParaRPr lang="en-IN" dirty="0"/>
          </a:p>
          <a:p>
            <a:r>
              <a:rPr lang="en-IN" dirty="0">
                <a:hlinkClick r:id="rId11" action="ppaction://hlinkfile"/>
              </a:rPr>
              <a:t>Faculty dashboard activity diagram</a:t>
            </a:r>
            <a:endParaRPr lang="en-IN" dirty="0"/>
          </a:p>
          <a:p>
            <a:r>
              <a:rPr lang="en-IN" dirty="0">
                <a:hlinkClick r:id="rId12" action="ppaction://hlinkfile"/>
              </a:rPr>
              <a:t>Student dashboard activity diagram</a:t>
            </a:r>
            <a:endParaRPr lang="en-IN" dirty="0"/>
          </a:p>
        </p:txBody>
      </p:sp>
    </p:spTree>
    <p:extLst>
      <p:ext uri="{BB962C8B-B14F-4D97-AF65-F5344CB8AC3E}">
        <p14:creationId xmlns:p14="http://schemas.microsoft.com/office/powerpoint/2010/main" val="306981735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804</TotalTime>
  <Words>797</Words>
  <Application>Microsoft Office PowerPoint</Application>
  <PresentationFormat>Widescreen</PresentationFormat>
  <Paragraphs>149</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Calibri Light</vt:lpstr>
      <vt:lpstr>Cambria</vt:lpstr>
      <vt:lpstr>Office Theme</vt:lpstr>
      <vt:lpstr> Semester : 8th  Project Presentation  On  Academic Workflow Management System</vt:lpstr>
      <vt:lpstr>Table of Content</vt:lpstr>
      <vt:lpstr>Project definition </vt:lpstr>
      <vt:lpstr>Purpose </vt:lpstr>
      <vt:lpstr>Project Scope </vt:lpstr>
      <vt:lpstr>Functional Requirements </vt:lpstr>
      <vt:lpstr>Functional Requirements </vt:lpstr>
      <vt:lpstr>Functional Requirements </vt:lpstr>
      <vt:lpstr>Functional Requirements </vt:lpstr>
      <vt:lpstr>Non - Functional Requirements </vt:lpstr>
      <vt:lpstr>Diagrams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KKP</dc:creator>
  <cp:lastModifiedBy>harsh bhagat</cp:lastModifiedBy>
  <cp:revision>22</cp:revision>
  <dcterms:created xsi:type="dcterms:W3CDTF">2025-08-13T08:10:01Z</dcterms:created>
  <dcterms:modified xsi:type="dcterms:W3CDTF">2026-03-06T18:38:23Z</dcterms:modified>
</cp:coreProperties>
</file>